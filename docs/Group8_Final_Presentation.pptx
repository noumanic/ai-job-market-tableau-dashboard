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1371600" y="4572000"/>
            <a:ext cx="7315200" cy="18288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7315200" cy="13716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058400" y="5029200"/>
            <a:ext cx="2286000" cy="1828800"/>
          </a:xfrm>
          <a:prstGeom prst="rtTriangl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13716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52B788"/>
                </a:solidFill>
                <a:latin typeface="Calibri"/>
              </a:rPr>
              <a:t>CS3012  ·  FUNDAMENTALS OF DATA VISUALIZATION  ·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109728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AI JOB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0" b="1" i="0">
                <a:solidFill>
                  <a:srgbClr val="52B788"/>
                </a:solidFill>
                <a:latin typeface="Calibri"/>
              </a:rPr>
              <a:t>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10058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0" i="1">
                <a:solidFill>
                  <a:srgbClr val="FAF8F0"/>
                </a:solidFill>
                <a:latin typeface="Calibri"/>
              </a:rPr>
              <a:t>Salaries  ·  Roles  ·  Global Hiring Trends  ·  2022 –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10058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52B788"/>
                </a:solidFill>
                <a:latin typeface="Calibri"/>
              </a:rPr>
              <a:t>147,348</a:t>
            </a:r>
            <a:r>
              <a:rPr sz="1400" b="0" i="0">
                <a:solidFill>
                  <a:srgbClr val="FAF8F0"/>
                </a:solidFill>
                <a:latin typeface="Calibri"/>
              </a:rPr>
              <a:t>  records  ·  </a:t>
            </a:r>
            <a:r>
              <a:rPr sz="1400" b="1" i="0">
                <a:solidFill>
                  <a:srgbClr val="52B788"/>
                </a:solidFill>
                <a:latin typeface="Calibri"/>
              </a:rPr>
              <a:t>87</a:t>
            </a:r>
            <a:r>
              <a:rPr sz="1400" b="0" i="0">
                <a:solidFill>
                  <a:srgbClr val="FAF8F0"/>
                </a:solidFill>
                <a:latin typeface="Calibri"/>
              </a:rPr>
              <a:t>  countries  ·  </a:t>
            </a:r>
            <a:r>
              <a:rPr sz="1400" b="1" i="0">
                <a:solidFill>
                  <a:srgbClr val="52B788"/>
                </a:solidFill>
                <a:latin typeface="Calibri"/>
              </a:rPr>
              <a:t>15</a:t>
            </a:r>
            <a:r>
              <a:rPr sz="1400" b="0" i="0">
                <a:solidFill>
                  <a:srgbClr val="FAF8F0"/>
                </a:solidFill>
                <a:latin typeface="Calibri"/>
              </a:rPr>
              <a:t>  role categories  ·  </a:t>
            </a:r>
            <a:r>
              <a:rPr sz="1400" b="1" i="0">
                <a:solidFill>
                  <a:srgbClr val="52B788"/>
                </a:solidFill>
                <a:latin typeface="Calibri"/>
              </a:rPr>
              <a:t>10</a:t>
            </a:r>
            <a:r>
              <a:rPr sz="1400" b="0" i="0">
                <a:solidFill>
                  <a:srgbClr val="FAF8F0"/>
                </a:solidFill>
                <a:latin typeface="Calibri"/>
              </a:rPr>
              <a:t>  Tableau worksheets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5852160"/>
            <a:ext cx="3200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GROUP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126480"/>
            <a:ext cx="3200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FAF8F0"/>
                </a:solidFill>
                <a:latin typeface="Calibri"/>
              </a:rPr>
              <a:t>FAST-NUCES Islamabad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355080"/>
            <a:ext cx="3200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FAF8F0"/>
                </a:solidFill>
                <a:latin typeface="Calibri"/>
              </a:rPr>
              <a:t>Instructor: Dr. Atif Mughees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8288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7315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JOB MARKET INTELLIGENCE  ·  CS3012  ·  GROUP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02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What we will cover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FAST-NUCES Islamabad  ·  Spring 2026  ·  Dr. Atif Mughees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Source: aijobs.net (CC0)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554480"/>
            <a:ext cx="54864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600200"/>
            <a:ext cx="91440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645920"/>
            <a:ext cx="4206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  <a:latin typeface="Calibri"/>
              </a:rPr>
              <a:t>Group &amp; Work Division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1965960"/>
            <a:ext cx="4206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Who built what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554480"/>
            <a:ext cx="54864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600200"/>
            <a:ext cx="91440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2D6A4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1645920"/>
            <a:ext cx="4206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  <a:latin typeface="Calibri"/>
              </a:rPr>
              <a:t>Project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1965960"/>
            <a:ext cx="4206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Goals and the 5 guiding questions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560320"/>
            <a:ext cx="54864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2606040"/>
            <a:ext cx="91440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40916C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2651760"/>
            <a:ext cx="4206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  <a:latin typeface="Calibri"/>
              </a:rPr>
              <a:t>About the Dataset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2971800"/>
            <a:ext cx="4206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Source, properties, authenticity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560320"/>
            <a:ext cx="54864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2B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2606040"/>
            <a:ext cx="91440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52B788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651760"/>
            <a:ext cx="4206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  <a:latin typeface="Calibri"/>
              </a:rPr>
              <a:t>Preprocessing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2971800"/>
            <a:ext cx="4206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5 stages from 151,445 to 147,348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566160"/>
            <a:ext cx="54864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3611880"/>
            <a:ext cx="91440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D8973C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3657600"/>
            <a:ext cx="4206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3977640"/>
            <a:ext cx="4206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20 figures across the market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566160"/>
            <a:ext cx="54864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47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3611880"/>
            <a:ext cx="91440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BC4749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3657600"/>
            <a:ext cx="4206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  <a:latin typeface="Calibri"/>
              </a:rPr>
              <a:t>Tableau Master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3977640"/>
            <a:ext cx="4206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10 worksheets · 5 KPIs · 4 insights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4572000"/>
            <a:ext cx="54864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4617720"/>
            <a:ext cx="91440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2D6A4F"/>
                </a:solidFill>
                <a:latin typeface="Calibri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4663440"/>
            <a:ext cx="4206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  <a:latin typeface="Calibri"/>
              </a:rPr>
              <a:t>Story the Dashboard Tells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4983480"/>
            <a:ext cx="4206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Narrative that the visuals deliver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4572000"/>
            <a:ext cx="54864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0" y="4617720"/>
            <a:ext cx="91440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4663440"/>
            <a:ext cx="4206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  <a:latin typeface="Calibri"/>
              </a:rPr>
              <a:t>Key Insights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4983480"/>
            <a:ext cx="4206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What the data revealed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5577840"/>
            <a:ext cx="54864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20" y="5623560"/>
            <a:ext cx="91440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40916C"/>
                </a:solidFill>
                <a:latin typeface="Calibri"/>
              </a:rPr>
              <a:t>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91640" y="5669280"/>
            <a:ext cx="4206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  <a:latin typeface="Calibri"/>
              </a:rPr>
              <a:t>How Tableau Helped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91640" y="5989320"/>
            <a:ext cx="4206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From static figures to a tool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5577840"/>
            <a:ext cx="54864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2B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0" y="5623560"/>
            <a:ext cx="91440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52B788"/>
                </a:solidFill>
                <a:latin typeface="Calibri"/>
              </a:rP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5669280"/>
            <a:ext cx="4206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  <a:latin typeface="Calibri"/>
              </a:rPr>
              <a:t>Conclusion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5989320"/>
            <a:ext cx="4206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Wrap up &amp; takeaways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8288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7315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JOB MARKET INTELLIGENCE  ·  CS3012  ·  GROUP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03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Group 8 — Team &amp; Work Division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Three contributors, one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FAST-NUCES Islamabad  ·  Spring 2026  ·  Dr. Atif Mughees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Source: aijobs.net (CC0)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554480"/>
            <a:ext cx="370332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1554480"/>
            <a:ext cx="3703320" cy="4572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851660" y="2103120"/>
            <a:ext cx="822960" cy="822960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51660" y="2103120"/>
            <a:ext cx="822960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MN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017520"/>
            <a:ext cx="3703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1" i="0">
                <a:solidFill>
                  <a:srgbClr val="1B4332"/>
                </a:solidFill>
                <a:latin typeface="Calibri"/>
              </a:rPr>
              <a:t>Muhammad Nouman Hafeez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337560"/>
            <a:ext cx="3703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21i-0416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611880"/>
            <a:ext cx="3703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1">
                <a:solidFill>
                  <a:srgbClr val="1B4332"/>
                </a:solidFill>
                <a:latin typeface="Calibri"/>
              </a:rPr>
              <a:t>Project Lead &amp; Tableau Engineering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023360"/>
            <a:ext cx="2788920" cy="1828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3246120" cy="1828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B4332"/>
                </a:solidFill>
                <a:latin typeface="Calibri"/>
              </a:rPr>
              <a:t>● 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Designed master dashboard layout and forest emerald palette</a:t>
            </a:r>
          </a:p>
          <a:p>
            <a:pPr algn="l"/>
            <a:r>
              <a:rPr sz="1100" b="1" i="0">
                <a:solidFill>
                  <a:srgbClr val="1B4332"/>
                </a:solidFill>
                <a:latin typeface="Calibri"/>
              </a:rPr>
              <a:t>● 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Built all 10 Tableau worksheets and KPI tiles</a:t>
            </a:r>
          </a:p>
          <a:p>
            <a:pPr algn="l"/>
            <a:r>
              <a:rPr sz="1100" b="1" i="0">
                <a:solidFill>
                  <a:srgbClr val="1B4332"/>
                </a:solidFill>
                <a:latin typeface="Calibri"/>
              </a:rPr>
              <a:t>● 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Authored Final_Project_Report.tex and dashboard build plan</a:t>
            </a:r>
          </a:p>
          <a:p>
            <a:pPr algn="l"/>
            <a:r>
              <a:rPr sz="1100" b="1" i="0">
                <a:solidFill>
                  <a:srgbClr val="1B4332"/>
                </a:solidFill>
                <a:latin typeface="Calibri"/>
              </a:rPr>
              <a:t>● 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Wired filter actions, calculated fields, sorting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554480"/>
            <a:ext cx="370332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97680" y="1554480"/>
            <a:ext cx="3703320" cy="4572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737860" y="2103120"/>
            <a:ext cx="822960" cy="822960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37860" y="2103120"/>
            <a:ext cx="822960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017520"/>
            <a:ext cx="3703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1" i="0">
                <a:solidFill>
                  <a:srgbClr val="1B4332"/>
                </a:solidFill>
                <a:latin typeface="Calibri"/>
              </a:rPr>
              <a:t>Muhammad Asim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337560"/>
            <a:ext cx="3703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21i-0852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611880"/>
            <a:ext cx="3703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1">
                <a:solidFill>
                  <a:srgbClr val="2D6A4F"/>
                </a:solidFill>
                <a:latin typeface="Calibri"/>
              </a:rPr>
              <a:t>Data Engineering &amp; Preprocessing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4023360"/>
            <a:ext cx="2788920" cy="18288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4160520"/>
            <a:ext cx="3246120" cy="1828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Wrote 5-script Python preprocessing pipeline</a:t>
            </a:r>
          </a:p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Cleaned 151,445 → 147,348 rows; engineered 12 columns</a:t>
            </a:r>
          </a:p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Mapped 406 raw job titles to 15 standardized categories</a:t>
            </a:r>
          </a:p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Produced summary CSVs and dataset documentation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1554480"/>
            <a:ext cx="370332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83880" y="1554480"/>
            <a:ext cx="3703320" cy="45720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624060" y="2103120"/>
            <a:ext cx="822960" cy="822960"/>
          </a:xfrm>
          <a:prstGeom prst="ellipse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24060" y="2103120"/>
            <a:ext cx="822960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SJ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3017520"/>
            <a:ext cx="3703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1" i="0">
                <a:solidFill>
                  <a:srgbClr val="1B4332"/>
                </a:solidFill>
                <a:latin typeface="Calibri"/>
              </a:rPr>
              <a:t>Sara Jabeen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3337560"/>
            <a:ext cx="3703320" cy="2062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21i-062</a:t>
            </a:r>
            <a:r>
              <a:rPr lang="en-US" sz="1100" b="0" i="0">
                <a:solidFill>
                  <a:srgbClr val="555555"/>
                </a:solidFill>
                <a:latin typeface="Calibri"/>
              </a:rPr>
              <a:t>3</a:t>
            </a:r>
            <a:endParaRPr sz="1100" b="0" i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183880" y="3611880"/>
            <a:ext cx="3703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1">
                <a:solidFill>
                  <a:srgbClr val="40916C"/>
                </a:solidFill>
                <a:latin typeface="Calibri"/>
              </a:rPr>
              <a:t>EDA &amp; Visual Story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41080" y="4023360"/>
            <a:ext cx="2788920" cy="18288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80" y="4160520"/>
            <a:ext cx="3246120" cy="1828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40916C"/>
                </a:solidFill>
                <a:latin typeface="Calibri"/>
              </a:rPr>
              <a:t>● 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Built EDA notebook, generated 20 matplotlib/seaborn figures</a:t>
            </a:r>
          </a:p>
          <a:p>
            <a:pPr algn="l"/>
            <a:r>
              <a:rPr sz="1100" b="1" i="0">
                <a:solidFill>
                  <a:srgbClr val="40916C"/>
                </a:solidFill>
                <a:latin typeface="Calibri"/>
              </a:rPr>
              <a:t>● 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Authored narrative analysis and 8 insight callouts</a:t>
            </a:r>
          </a:p>
          <a:p>
            <a:pPr algn="l"/>
            <a:r>
              <a:rPr sz="1100" b="1" i="0">
                <a:solidFill>
                  <a:srgbClr val="40916C"/>
                </a:solidFill>
                <a:latin typeface="Calibri"/>
              </a:rPr>
              <a:t>● 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Verified data authenticity with 4 source-platform screenshots</a:t>
            </a:r>
          </a:p>
          <a:p>
            <a:pPr algn="l"/>
            <a:r>
              <a:rPr sz="1100" b="1" i="0">
                <a:solidFill>
                  <a:srgbClr val="40916C"/>
                </a:solidFill>
                <a:latin typeface="Calibri"/>
              </a:rPr>
              <a:t>● 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Co-wrote final report and presentation deck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8288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7315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JOB MARKET INTELLIGENCE  ·  CS3012  ·  GROUP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04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From raw crowdsourced salaries to an interactive Tableau master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FAST-NUCES Islamabad  ·  Spring 2026  ·  Dr. Atif Mughees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Source: aijobs.net (CC0)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63040"/>
            <a:ext cx="64008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1B4332"/>
                </a:solidFill>
                <a:latin typeface="Calibri"/>
              </a:rPr>
              <a:t>What we 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920240"/>
            <a:ext cx="6400800" cy="2743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An end-to-end data visualization project that converts a real, first-party salary dataset (147,348 records · 87 countries · 2022–2025) into an interactive Tableau dashboard. The work spans a Python preprocessing pipeline, twenty exploratory figures, ten coordinated Tableau worksheets, and a 40-page report. The deliverable lets a stakeholder click a country on the map and watch every other panel re-scope.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6400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1B4332"/>
                </a:solidFill>
                <a:latin typeface="Calibri"/>
              </a:rPr>
              <a:t>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54880"/>
            <a:ext cx="64008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  <a:latin typeface="Calibri"/>
              </a:rPr>
              <a:t>◆  </a:t>
            </a:r>
            <a:r>
              <a:rPr sz="1200" b="1" i="0">
                <a:solidFill>
                  <a:srgbClr val="1B4332"/>
                </a:solidFill>
                <a:latin typeface="Calibri"/>
              </a:rPr>
              <a:t>Data Integrity —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Clean and normalise crowdsourced salaries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0"/>
            <a:ext cx="64008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  <a:latin typeface="Calibri"/>
              </a:rPr>
              <a:t>◆  </a:t>
            </a:r>
            <a:r>
              <a:rPr sz="1200" b="1" i="0">
                <a:solidFill>
                  <a:srgbClr val="1B4332"/>
                </a:solidFill>
                <a:latin typeface="Calibri"/>
              </a:rPr>
              <a:t>Feature Engineering —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Add 12 derived columns for richer encodings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86400"/>
            <a:ext cx="64008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  <a:latin typeface="Calibri"/>
              </a:rPr>
              <a:t>◆  </a:t>
            </a:r>
            <a:r>
              <a:rPr sz="1200" b="1" i="0">
                <a:solidFill>
                  <a:srgbClr val="1B4332"/>
                </a:solidFill>
                <a:latin typeface="Calibri"/>
              </a:rPr>
              <a:t>Exploratory Analysis —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20 matplotlib/seaborn figures profiling every facet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52160"/>
            <a:ext cx="64008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  <a:latin typeface="Calibri"/>
              </a:rPr>
              <a:t>◆  </a:t>
            </a:r>
            <a:r>
              <a:rPr sz="1200" b="1" i="0">
                <a:solidFill>
                  <a:srgbClr val="1B4332"/>
                </a:solidFill>
                <a:latin typeface="Calibri"/>
              </a:rPr>
              <a:t>Dashboarding —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10 worksheets + 5 KPIs + 4 insights, 1200×1500 canvas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463040"/>
            <a:ext cx="2194560" cy="960120"/>
          </a:xfrm>
          <a:prstGeom prst="roundRect">
            <a:avLst/>
          </a:prstGeom>
          <a:solidFill>
            <a:srgbClr val="FAF8F0"/>
          </a:solidFill>
          <a:ln w="2540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79" y="1600200"/>
            <a:ext cx="219456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3000" b="1" i="0">
                <a:solidFill>
                  <a:srgbClr val="1B4332"/>
                </a:solidFill>
                <a:latin typeface="Calibri"/>
              </a:rPr>
              <a:t>147,348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057400"/>
            <a:ext cx="219456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Calibri"/>
              </a:rPr>
              <a:t>TOTAL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799" y="1463040"/>
            <a:ext cx="2194560" cy="960120"/>
          </a:xfrm>
          <a:prstGeom prst="roundRect">
            <a:avLst/>
          </a:prstGeom>
          <a:solidFill>
            <a:srgbClr val="FAF8F0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29799" y="1600200"/>
            <a:ext cx="219456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3000" b="1" i="0">
                <a:solidFill>
                  <a:srgbClr val="2D6A4F"/>
                </a:solidFill>
                <a:latin typeface="Calibri"/>
              </a:rPr>
              <a:t>$147,000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799" y="2057400"/>
            <a:ext cx="219456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Calibri"/>
              </a:rPr>
              <a:t>MEDIAN SALARY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2560320"/>
            <a:ext cx="2194560" cy="960120"/>
          </a:xfrm>
          <a:prstGeom prst="roundRect">
            <a:avLst/>
          </a:prstGeom>
          <a:solidFill>
            <a:srgbClr val="FAF8F0"/>
          </a:solidFill>
          <a:ln w="25400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79" y="2697480"/>
            <a:ext cx="219456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3000" b="1" i="0">
                <a:solidFill>
                  <a:srgbClr val="40916C"/>
                </a:solidFill>
                <a:latin typeface="Calibri"/>
              </a:rPr>
              <a:t>87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154680"/>
            <a:ext cx="219456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Calibri"/>
              </a:rPr>
              <a:t>COUNTRIES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799" y="2560320"/>
            <a:ext cx="2194560" cy="960120"/>
          </a:xfrm>
          <a:prstGeom prst="roundRect">
            <a:avLst/>
          </a:prstGeom>
          <a:solidFill>
            <a:srgbClr val="FAF8F0"/>
          </a:solidFill>
          <a:ln w="25400">
            <a:solidFill>
              <a:srgbClr val="52B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29799" y="2697480"/>
            <a:ext cx="219456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3000" b="1" i="0">
                <a:solidFill>
                  <a:srgbClr val="52B788"/>
                </a:solidFill>
                <a:latin typeface="Calibri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799" y="3154680"/>
            <a:ext cx="219456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Calibri"/>
              </a:rPr>
              <a:t>WORKSHEETS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79" y="3657600"/>
            <a:ext cx="2194560" cy="960120"/>
          </a:xfrm>
          <a:prstGeom prst="roundRect">
            <a:avLst/>
          </a:prstGeom>
          <a:solidFill>
            <a:srgbClr val="FAF8F0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79" y="3794760"/>
            <a:ext cx="219456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3000" b="1" i="0">
                <a:solidFill>
                  <a:srgbClr val="D8973C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251960"/>
            <a:ext cx="219456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Calibri"/>
              </a:rPr>
              <a:t>YEARS COVERED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29799" y="3657600"/>
            <a:ext cx="2194560" cy="960120"/>
          </a:xfrm>
          <a:prstGeom prst="roundRect">
            <a:avLst/>
          </a:prstGeom>
          <a:solidFill>
            <a:srgbClr val="FAF8F0"/>
          </a:solidFill>
          <a:ln w="25400">
            <a:solidFill>
              <a:srgbClr val="BC47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29799" y="3794760"/>
            <a:ext cx="219456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3000" b="1" i="0">
                <a:solidFill>
                  <a:srgbClr val="BC4749"/>
                </a:solidFill>
                <a:latin typeface="Calibri"/>
              </a:rPr>
              <a:t>1.91×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799" y="4251960"/>
            <a:ext cx="219456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Calibri"/>
              </a:rPr>
              <a:t>EXEC vs ENTRY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8288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7315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JOB MARKET INTELLIGENCE  ·  CS3012  ·  GROUP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05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Five Guiding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What the dashboard is engineered to answer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FAST-NUCES Islamabad  ·  Spring 2026  ·  Dr. Atif Mughees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Source: aijobs.net (CC0)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554480"/>
            <a:ext cx="137160" cy="9144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4360" y="1554480"/>
            <a:ext cx="11185855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1600200"/>
            <a:ext cx="914400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800" b="1" i="0">
                <a:solidFill>
                  <a:srgbClr val="1B4332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645920"/>
            <a:ext cx="9144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  <a:latin typeface="Calibri"/>
              </a:rPr>
              <a:t>Which AI/ML/Data Science roles pay the most?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011680"/>
            <a:ext cx="9144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→  ML Eng. / MLOps leads at $194K — 81% above Data Analyst.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560320"/>
            <a:ext cx="137160" cy="9144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4360" y="2560320"/>
            <a:ext cx="11185855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2606040"/>
            <a:ext cx="914400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800" b="1" i="0">
                <a:solidFill>
                  <a:srgbClr val="2D6A4F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651760"/>
            <a:ext cx="9144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  <a:latin typeface="Calibri"/>
              </a:rPr>
              <a:t>How does salary grow from Entry Level to Executive?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→  Entry $103K → Mid $140K → Senior $170K → Exec $196K  (1.91×)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566160"/>
            <a:ext cx="137160" cy="91440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94360" y="3566160"/>
            <a:ext cx="11185855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3611880"/>
            <a:ext cx="914400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800" b="1" i="0">
                <a:solidFill>
                  <a:srgbClr val="40916C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657600"/>
            <a:ext cx="9144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  <a:latin typeface="Calibri"/>
              </a:rPr>
              <a:t>How has remote work changed year over year?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023360"/>
            <a:ext cx="9144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→  Remote dropped from 53.5% (2022) to 20.3% (2025).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572000"/>
            <a:ext cx="137160" cy="914400"/>
          </a:xfrm>
          <a:prstGeom prst="rect">
            <a:avLst/>
          </a:prstGeom>
          <a:solidFill>
            <a:srgbClr val="D89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94360" y="4572000"/>
            <a:ext cx="11185855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4617720"/>
            <a:ext cx="914400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800" b="1" i="0">
                <a:solidFill>
                  <a:srgbClr val="D8973C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663440"/>
            <a:ext cx="9144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  <a:latin typeface="Calibri"/>
              </a:rPr>
              <a:t>Which countries lead global AI hiring?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029200"/>
            <a:ext cx="9144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→  US captures 90.4% of submissions; North America $159K avg.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577840"/>
            <a:ext cx="137160" cy="914400"/>
          </a:xfrm>
          <a:prstGeom prst="rect">
            <a:avLst/>
          </a:prstGeom>
          <a:solidFill>
            <a:srgbClr val="BC4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94360" y="5577840"/>
            <a:ext cx="11185855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47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5623560"/>
            <a:ext cx="914400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800" b="1" i="0">
                <a:solidFill>
                  <a:srgbClr val="BC4749"/>
                </a:solidFill>
                <a:latin typeface="Calibr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669280"/>
            <a:ext cx="9144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  <a:latin typeface="Calibri"/>
              </a:rPr>
              <a:t>What does the salary distribution look like?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6035040"/>
            <a:ext cx="9144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→  $100K–$200K holds 55% of all records; $260K+ holds 7.3%.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8288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7315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JOB MARKET INTELLIGENCE  ·  CS3012  ·  GROUP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06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About the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Real, crowdsourced AI/ML/Data Science salary survey  ·  CC0 Public Domain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FAST-NUCES Islamabad  ·  Spring 2026  ·  Dr. Atif Mughees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Source: aijobs.net (CC0)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63040"/>
            <a:ext cx="6858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1B4332"/>
                </a:solidFill>
                <a:latin typeface="Calibri"/>
              </a:rPr>
              <a:t>What it 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74519"/>
            <a:ext cx="6858000" cy="2286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Global Salaries in AI, ML, Data Science and Big Data — a crowdsourced compensation survey published by aijobs.net (the same first-party organisation that runs the live job board). Every row is a single anonymous salary submission covering 2022–2025. We standardise 406 free-text job titles into 15 categories and add 12 engineered analytical columns, ending at 147,348 rows × 27 columns.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6858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1B4332"/>
                </a:solidFill>
                <a:latin typeface="Calibri"/>
              </a:rPr>
              <a:t>What each row carries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17720"/>
            <a:ext cx="16916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4617720"/>
            <a:ext cx="1691640" cy="32004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617720"/>
            <a:ext cx="169164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1508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● work_year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4617720"/>
            <a:ext cx="16916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31720" y="4617720"/>
            <a:ext cx="1691640" cy="32004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31720" y="4617720"/>
            <a:ext cx="169164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5029200"/>
            <a:ext cx="1508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● experience_level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5303520"/>
            <a:ext cx="1508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● exp_label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577840"/>
            <a:ext cx="1508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● employee_residence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0" y="4617720"/>
            <a:ext cx="16916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14800" y="4617720"/>
            <a:ext cx="1691640" cy="32004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0" y="4617720"/>
            <a:ext cx="169164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029200"/>
            <a:ext cx="1508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● job_title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5303520"/>
            <a:ext cx="1508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● title_group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5577840"/>
            <a:ext cx="1508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● company_size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97880" y="4617720"/>
            <a:ext cx="16916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97880" y="4617720"/>
            <a:ext cx="1691640" cy="320040"/>
          </a:xfrm>
          <a:prstGeom prst="rect">
            <a:avLst/>
          </a:prstGeom>
          <a:solidFill>
            <a:srgbClr val="D89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97880" y="4617720"/>
            <a:ext cx="169164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5029200"/>
            <a:ext cx="1508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● salary_in_usd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5303520"/>
            <a:ext cx="1508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● remote_ratio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5577840"/>
            <a:ext cx="1508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● work_mode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1463040"/>
            <a:ext cx="4114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1B4332"/>
                </a:solidFill>
                <a:latin typeface="Calibri"/>
              </a:rPr>
              <a:t>Headline properties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1920240"/>
            <a:ext cx="4114800" cy="384048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63840" y="1920240"/>
            <a:ext cx="237744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4332"/>
                </a:solidFill>
                <a:latin typeface="Calibri"/>
              </a:rPr>
              <a:t>Records (cleaned)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1920240"/>
            <a:ext cx="17830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000" b="0" i="0">
                <a:solidFill>
                  <a:srgbClr val="1A1A1A"/>
                </a:solidFill>
                <a:latin typeface="Calibri"/>
              </a:rPr>
              <a:t>147,348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0" y="2340864"/>
            <a:ext cx="4114800" cy="384048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63840" y="2340864"/>
            <a:ext cx="237744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4332"/>
                </a:solidFill>
                <a:latin typeface="Calibri"/>
              </a:rPr>
              <a:t>Original raw rows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2340864"/>
            <a:ext cx="17830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000" b="0" i="0">
                <a:solidFill>
                  <a:srgbClr val="1A1A1A"/>
                </a:solidFill>
                <a:latin typeface="Calibri"/>
              </a:rPr>
              <a:t>151,445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2761488"/>
            <a:ext cx="4114800" cy="384048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63840" y="2761488"/>
            <a:ext cx="237744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4332"/>
                </a:solidFill>
                <a:latin typeface="Calibri"/>
              </a:rPr>
              <a:t>Time period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2761488"/>
            <a:ext cx="17830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000" b="0" i="0">
                <a:solidFill>
                  <a:srgbClr val="1A1A1A"/>
                </a:solidFill>
                <a:latin typeface="Calibri"/>
              </a:rPr>
              <a:t>2022 – 2025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0" y="3182112"/>
            <a:ext cx="4114800" cy="384048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63840" y="3182112"/>
            <a:ext cx="237744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4332"/>
                </a:solidFill>
                <a:latin typeface="Calibri"/>
              </a:rPr>
              <a:t>Countries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3182112"/>
            <a:ext cx="17830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000" b="0" i="0">
                <a:solidFill>
                  <a:srgbClr val="1A1A1A"/>
                </a:solidFill>
                <a:latin typeface="Calibri"/>
              </a:rPr>
              <a:t>87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0" y="3602736"/>
            <a:ext cx="4114800" cy="384048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863840" y="3602736"/>
            <a:ext cx="237744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4332"/>
                </a:solidFill>
                <a:latin typeface="Calibri"/>
              </a:rPr>
              <a:t>Role categories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3602736"/>
            <a:ext cx="17830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000" b="0" i="0">
                <a:solidFill>
                  <a:srgbClr val="1A1A1A"/>
                </a:solidFill>
                <a:latin typeface="Calibri"/>
              </a:rPr>
              <a:t>15  (from 406 raw)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0" y="4023360"/>
            <a:ext cx="4114800" cy="384048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863840" y="4023360"/>
            <a:ext cx="237744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4332"/>
                </a:solidFill>
                <a:latin typeface="Calibri"/>
              </a:rPr>
              <a:t>Salary range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4023360"/>
            <a:ext cx="17830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000" b="0" i="0">
                <a:solidFill>
                  <a:srgbClr val="1A1A1A"/>
                </a:solidFill>
                <a:latin typeface="Calibri"/>
              </a:rPr>
              <a:t>$37,974 – $385,000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72400" y="4443984"/>
            <a:ext cx="4114800" cy="384048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863840" y="4443984"/>
            <a:ext cx="237744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4332"/>
                </a:solidFill>
                <a:latin typeface="Calibri"/>
              </a:rPr>
              <a:t>Median / Mean salary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4443984"/>
            <a:ext cx="17830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000" b="0" i="0">
                <a:solidFill>
                  <a:srgbClr val="1A1A1A"/>
                </a:solidFill>
                <a:latin typeface="Calibri"/>
              </a:rPr>
              <a:t>$147,000 / $156,237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0" y="4864608"/>
            <a:ext cx="4114800" cy="384048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63840" y="4864608"/>
            <a:ext cx="237744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4332"/>
                </a:solidFill>
                <a:latin typeface="Calibri"/>
              </a:rPr>
              <a:t>Skewness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0" y="4864608"/>
            <a:ext cx="17830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000" b="0" i="0">
                <a:solidFill>
                  <a:srgbClr val="1A1A1A"/>
                </a:solidFill>
                <a:latin typeface="Calibri"/>
              </a:rPr>
              <a:t>0.68 (right-skewed)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72400" y="5285232"/>
            <a:ext cx="4114800" cy="384048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863840" y="5285232"/>
            <a:ext cx="237744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4332"/>
                </a:solidFill>
                <a:latin typeface="Calibri"/>
              </a:rPr>
              <a:t>Final columns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0" y="5285232"/>
            <a:ext cx="17830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000" b="0" i="0">
                <a:solidFill>
                  <a:srgbClr val="1A1A1A"/>
                </a:solidFill>
                <a:latin typeface="Calibri"/>
              </a:rPr>
              <a:t>27 (11 raw + 4 label + 12 engineered)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72400" y="5705856"/>
            <a:ext cx="4114800" cy="384048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863840" y="5705856"/>
            <a:ext cx="237744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4332"/>
                </a:solidFill>
                <a:latin typeface="Calibri"/>
              </a:rPr>
              <a:t>License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0" y="5705856"/>
            <a:ext cx="17830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000" b="0" i="0">
                <a:solidFill>
                  <a:srgbClr val="1A1A1A"/>
                </a:solidFill>
                <a:latin typeface="Calibri"/>
              </a:rPr>
              <a:t>CC0 1.0 Public Domain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8288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7315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JOB MARKET INTELLIGENCE  ·  CS3012  ·  GROUP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07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Why This Dataset Is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Authenticity markers we verified before any preprocessing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FAST-NUCES Islamabad  ·  Spring 2026  ·  Dr. Atif Mughees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Source: aijobs.net (CC0)</a:t>
            </a:r>
          </a:p>
        </p:txBody>
      </p:sp>
      <p:pic>
        <p:nvPicPr>
          <p:cNvPr id="12" name="Picture 11" descr="pic1_foorilla_hi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2606040" cy="1645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3154680"/>
            <a:ext cx="2606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Foorilla hiring platform</a:t>
            </a:r>
          </a:p>
        </p:txBody>
      </p:sp>
      <p:pic>
        <p:nvPicPr>
          <p:cNvPr id="14" name="Picture 13" descr="pic2_foorilla_med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463040"/>
            <a:ext cx="2606040" cy="1645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200400" y="3154680"/>
            <a:ext cx="2606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Media + industry recognition</a:t>
            </a:r>
          </a:p>
        </p:txBody>
      </p:sp>
      <p:pic>
        <p:nvPicPr>
          <p:cNvPr id="16" name="Picture 15" descr="pic3_foorilla_ins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463040"/>
            <a:ext cx="2606040" cy="1645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0" y="3154680"/>
            <a:ext cx="2606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Internal market insight tools</a:t>
            </a:r>
          </a:p>
        </p:txBody>
      </p:sp>
      <p:pic>
        <p:nvPicPr>
          <p:cNvPr id="18" name="Picture 17" descr="pic4_aijobs_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1463040"/>
            <a:ext cx="2606040" cy="1645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86800" y="3154680"/>
            <a:ext cx="2606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aijobs.net live search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56692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●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First-party Kaggle release — published by the official aijobs organisation account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657600"/>
            <a:ext cx="56692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  <a:latin typeface="Calibri"/>
              </a:rPr>
              <a:t>●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Real-world distribution: US 90.4% of submissions matches public hiring statistics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60520"/>
            <a:ext cx="56692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40916C"/>
                </a:solidFill>
                <a:latin typeface="Calibri"/>
              </a:rPr>
              <a:t>●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Right-skewed salary distribution (skewness 0.68) — characteristic of real labour markets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160520"/>
            <a:ext cx="56692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52B788"/>
                </a:solidFill>
                <a:latin typeface="Calibri"/>
              </a:rPr>
              <a:t>●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406 distinct raw job-title strings reflect genuine free-text variation, not synthetic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63440"/>
            <a:ext cx="56692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D8973C"/>
                </a:solidFill>
                <a:latin typeface="Calibri"/>
              </a:rPr>
              <a:t>●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Updated weekly by the platform that runs the live aijobs.net job 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663440"/>
            <a:ext cx="56692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BC4749"/>
                </a:solidFill>
                <a:latin typeface="Calibri"/>
              </a:rPr>
              <a:t>●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99.4% full-time employment ratio matches industry averages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669280"/>
            <a:ext cx="11277295" cy="548640"/>
          </a:xfrm>
          <a:prstGeom prst="roundRect">
            <a:avLst/>
          </a:prstGeom>
          <a:solidFill>
            <a:srgbClr val="FFF4E5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1" i="0">
                <a:solidFill>
                  <a:srgbClr val="D8973C"/>
                </a:solidFill>
                <a:latin typeface="Calibri"/>
              </a:rPr>
              <a:t>✦  Conclusion: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every row in our final </a:t>
            </a:r>
            <a:r>
              <a:rPr sz="1200" b="1" i="0">
                <a:solidFill>
                  <a:srgbClr val="1B4332"/>
                </a:solidFill>
                <a:latin typeface="Consolas"/>
              </a:rPr>
              <a:t>salaries_enhanced.csv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is a real salary submission. No synthetic data is introduced at any stage of the pipeline.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8288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7315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JOB MARKET INTELLIGENCE  ·  CS3012  ·  GROUP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08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Preprocessing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Five Python scripts: 151,445 rows in → 147,348 × 27 cols 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FAST-NUCES Islamabad  ·  Spring 2026  ·  Dr. Atif Mughees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Source: aijobs.net (CC0)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645920"/>
            <a:ext cx="21945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1645920"/>
            <a:ext cx="2194560" cy="4572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645920"/>
            <a:ext cx="219456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  ·  EXPLORE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40280"/>
            <a:ext cx="21945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1B4332"/>
                </a:solidFill>
                <a:latin typeface="Consolas"/>
              </a:rPr>
              <a:t>01_explore.py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697480"/>
            <a:ext cx="192024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Profile shape · nulls · skew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1828800" cy="228600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657600"/>
            <a:ext cx="219456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2D6A4F"/>
                </a:solidFill>
                <a:latin typeface="Calibri"/>
              </a:rPr>
              <a:t>✓ DONE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697480" y="2743200"/>
            <a:ext cx="228600" cy="182880"/>
          </a:xfrm>
          <a:prstGeom prst="rightArrow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880360" y="1645920"/>
            <a:ext cx="21945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880360" y="1645920"/>
            <a:ext cx="2194560" cy="4572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80360" y="1645920"/>
            <a:ext cx="219456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  ·  CLEAN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2240280"/>
            <a:ext cx="21945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1B4332"/>
                </a:solidFill>
                <a:latin typeface="Consolas"/>
              </a:rPr>
              <a:t>02_clean.py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2697480"/>
            <a:ext cx="192024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FT-only · 2022-25 · 1-99 pct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3657600"/>
            <a:ext cx="1828800" cy="228600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80360" y="3657600"/>
            <a:ext cx="219456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2D6A4F"/>
                </a:solidFill>
                <a:latin typeface="Calibri"/>
              </a:rPr>
              <a:t>✓ DONE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029200" y="2743200"/>
            <a:ext cx="228600" cy="182880"/>
          </a:xfrm>
          <a:prstGeom prst="rightArrow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212080" y="1645920"/>
            <a:ext cx="21945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212080" y="1645920"/>
            <a:ext cx="2194560" cy="45720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12080" y="1645920"/>
            <a:ext cx="219456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  ·  STANDARDIZE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2240280"/>
            <a:ext cx="21945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1B4332"/>
                </a:solidFill>
                <a:latin typeface="Consolas"/>
              </a:rPr>
              <a:t>03_title_grouping.py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2697480"/>
            <a:ext cx="192024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406 raw titles → 15 groups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94960" y="3657600"/>
            <a:ext cx="1828800" cy="228600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12080" y="3657600"/>
            <a:ext cx="219456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2D6A4F"/>
                </a:solidFill>
                <a:latin typeface="Calibri"/>
              </a:rPr>
              <a:t>✓ DONE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360920" y="2743200"/>
            <a:ext cx="228600" cy="182880"/>
          </a:xfrm>
          <a:prstGeom prst="rightArrow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543800" y="1645920"/>
            <a:ext cx="21945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2B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543800" y="1645920"/>
            <a:ext cx="2194560" cy="45720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43800" y="1645920"/>
            <a:ext cx="219456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  ·  SUMMARIZE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2240280"/>
            <a:ext cx="21945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1B4332"/>
                </a:solidFill>
                <a:latin typeface="Consolas"/>
              </a:rPr>
              <a:t>04_summary_stats.py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2697480"/>
            <a:ext cx="192024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10 KPI / category CSVs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26680" y="3657600"/>
            <a:ext cx="1828800" cy="228600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43800" y="3657600"/>
            <a:ext cx="219456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2D6A4F"/>
                </a:solidFill>
                <a:latin typeface="Calibri"/>
              </a:rPr>
              <a:t>✓ DONE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9692640" y="2743200"/>
            <a:ext cx="228600" cy="182880"/>
          </a:xfrm>
          <a:prstGeom prst="rightArrow">
            <a:avLst/>
          </a:prstGeom>
          <a:solidFill>
            <a:srgbClr val="D89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875520" y="1645920"/>
            <a:ext cx="21945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875520" y="1645920"/>
            <a:ext cx="2194560" cy="457200"/>
          </a:xfrm>
          <a:prstGeom prst="rect">
            <a:avLst/>
          </a:prstGeom>
          <a:solidFill>
            <a:srgbClr val="D89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875520" y="1645920"/>
            <a:ext cx="219456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  ·  ENGINEER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2240280"/>
            <a:ext cx="21945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1B4332"/>
                </a:solidFill>
                <a:latin typeface="Consolas"/>
              </a:rPr>
              <a:t>05_feature_engineering.py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2697480"/>
            <a:ext cx="192024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12 derived analytical cols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058400" y="3657600"/>
            <a:ext cx="1828800" cy="228600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875520" y="3657600"/>
            <a:ext cx="219456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2D6A4F"/>
                </a:solidFill>
                <a:latin typeface="Calibri"/>
              </a:rPr>
              <a:t>✓ DONE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4297680"/>
            <a:ext cx="2194560" cy="1188720"/>
          </a:xfrm>
          <a:prstGeom prst="roundRect">
            <a:avLst/>
          </a:prstGeom>
          <a:solidFill>
            <a:srgbClr val="FAF8F0"/>
          </a:solidFill>
          <a:ln w="2540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8640" y="4434840"/>
            <a:ext cx="219456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1B4332"/>
                </a:solidFill>
                <a:latin typeface="Calibri"/>
              </a:rPr>
              <a:t>151,445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4937760"/>
            <a:ext cx="21945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RAW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80360" y="4297680"/>
            <a:ext cx="2194560" cy="1188720"/>
          </a:xfrm>
          <a:prstGeom prst="roundRect">
            <a:avLst/>
          </a:prstGeom>
          <a:solidFill>
            <a:srgbClr val="FAF8F0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880360" y="4434840"/>
            <a:ext cx="219456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2D6A4F"/>
                </a:solidFill>
                <a:latin typeface="Calibri"/>
              </a:rPr>
              <a:t>150,541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80360" y="4937760"/>
            <a:ext cx="21945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FT only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212080" y="4297680"/>
            <a:ext cx="2194560" cy="1188720"/>
          </a:xfrm>
          <a:prstGeom prst="roundRect">
            <a:avLst/>
          </a:prstGeom>
          <a:solidFill>
            <a:srgbClr val="FAF8F0"/>
          </a:solidFill>
          <a:ln w="25400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212080" y="4434840"/>
            <a:ext cx="219456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40916C"/>
                </a:solidFill>
                <a:latin typeface="Calibri"/>
              </a:rPr>
              <a:t>150,264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2080" y="4937760"/>
            <a:ext cx="21945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2022-25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43800" y="4297680"/>
            <a:ext cx="2194560" cy="1188720"/>
          </a:xfrm>
          <a:prstGeom prst="roundRect">
            <a:avLst/>
          </a:prstGeom>
          <a:solidFill>
            <a:srgbClr val="FAF8F0"/>
          </a:solidFill>
          <a:ln w="25400">
            <a:solidFill>
              <a:srgbClr val="52B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543800" y="4434840"/>
            <a:ext cx="219456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52B788"/>
                </a:solidFill>
                <a:latin typeface="Calibri"/>
              </a:rPr>
              <a:t>147,348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43800" y="4937760"/>
            <a:ext cx="21945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Outlier-free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875520" y="4297680"/>
            <a:ext cx="2194560" cy="1188720"/>
          </a:xfrm>
          <a:prstGeom prst="roundRect">
            <a:avLst/>
          </a:prstGeom>
          <a:solidFill>
            <a:srgbClr val="FAF8F0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875520" y="4434840"/>
            <a:ext cx="219456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D8973C"/>
                </a:solidFill>
                <a:latin typeface="Calibri"/>
              </a:rPr>
              <a:t>147,348 × 27 cols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75520" y="4937760"/>
            <a:ext cx="21945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FINAL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We removed 4,097 rows total (2.7%): 904 non-full-time + 277 outside 2022–2025 + 2,916 outliers below the 1st or above the 99th percentile.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8288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7315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JOB MARKET INTELLIGENCE  ·  CS3012  ·  GROUP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09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Stages 1 &amp; 2 — Explore  ·  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Why the cleaning rules exist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FAST-NUCES Islamabad  ·  Spring 2026  ·  Dr. Atif Mughees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Source: aijobs.net (CC0)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37160" cy="3657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463040"/>
            <a:ext cx="5486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1B4332"/>
                </a:solidFill>
                <a:latin typeface="Calibri"/>
              </a:rPr>
              <a:t>01  ·  EXPLORE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920240"/>
            <a:ext cx="5486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194560"/>
            <a:ext cx="5486400" cy="1828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Profile the raw 151,445-row CSV before touching it. Confirm shape, datatypes, missing values, salary distribution, skewness, and the spread of unique values per column.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200400"/>
            <a:ext cx="5486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520440"/>
            <a:ext cx="5486400" cy="1828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Surfaced the right-skew (0.68), 0 missing values, 99.4% full-time, and 406 unique title strings — the evidence base for every later cleaning decision.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463040"/>
            <a:ext cx="137160" cy="36576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1463040"/>
            <a:ext cx="5486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2D6A4F"/>
                </a:solidFill>
                <a:latin typeface="Calibri"/>
              </a:rPr>
              <a:t>02  ·  CLEAN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1920240"/>
            <a:ext cx="52120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1965960"/>
            <a:ext cx="27432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B4332"/>
                </a:solidFill>
                <a:latin typeface="Calibri"/>
              </a:rPr>
              <a:t>Keep Full-Time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286000"/>
            <a:ext cx="2286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151,445 → 150,541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1965960"/>
            <a:ext cx="21945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400" b="1" i="0">
                <a:solidFill>
                  <a:srgbClr val="BC4749"/>
                </a:solidFill>
                <a:latin typeface="Calibri"/>
              </a:rPr>
              <a:t>−904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514600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Removes contractor / part-time noise so the salary scale is comparable.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2971800"/>
            <a:ext cx="52120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2280" y="3017520"/>
            <a:ext cx="27432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B4332"/>
                </a:solidFill>
                <a:latin typeface="Calibri"/>
              </a:rPr>
              <a:t>Keep 2022 –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337560"/>
            <a:ext cx="2286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150,541 → 150,264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017520"/>
            <a:ext cx="21945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400" b="1" i="0">
                <a:solidFill>
                  <a:srgbClr val="BC4749"/>
                </a:solidFill>
                <a:latin typeface="Calibri"/>
              </a:rPr>
              <a:t>−277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566160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Pre-2022 sample is too small (~1k records) to draw stable trend lines.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4023360"/>
            <a:ext cx="52120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12280" y="4069080"/>
            <a:ext cx="27432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B4332"/>
                </a:solidFill>
                <a:latin typeface="Calibri"/>
              </a:rPr>
              <a:t>Outlier removal (1–99%)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389120"/>
            <a:ext cx="2286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150,264 → 147,348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4069080"/>
            <a:ext cx="21945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400" b="1" i="0">
                <a:solidFill>
                  <a:srgbClr val="BC4749"/>
                </a:solidFill>
                <a:latin typeface="Calibri"/>
              </a:rPr>
              <a:t>−2,916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617720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Bounds: $37,974 – $385,000. Trims data-entry errors and extreme top-of-market.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486400"/>
            <a:ext cx="11277295" cy="640080"/>
          </a:xfrm>
          <a:prstGeom prst="roundRect">
            <a:avLst/>
          </a:prstGeom>
          <a:solidFill>
            <a:srgbClr val="E8F1ED"/>
          </a:solidFill>
          <a:ln w="25400">
            <a:solidFill>
              <a:srgbClr val="52B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5486400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  <a:latin typeface="Calibri"/>
              </a:rPr>
              <a:t>Final salary range after cleaning:  </a:t>
            </a:r>
            <a:r>
              <a:rPr sz="1300" b="1" i="0">
                <a:solidFill>
                  <a:srgbClr val="1B4332"/>
                </a:solidFill>
                <a:latin typeface="Calibri"/>
              </a:rPr>
              <a:t>$37,974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to </a:t>
            </a:r>
            <a:r>
              <a:rPr sz="1300" b="1" i="0">
                <a:solidFill>
                  <a:srgbClr val="1B4332"/>
                </a:solidFill>
                <a:latin typeface="Calibri"/>
              </a:rPr>
              <a:t>$385,000 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·  4,097 rows removed total (2.7% of raw)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8288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7315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JOB MARKET INTELLIGENCE  ·  CS3012  ·  GROUP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10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Stage 3 — Title Grouping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406 raw free-text titles → 15 standardized categories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FAST-NUCES Islamabad  ·  Spring 2026  ·  Dr. Atif Mughees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Source: aijobs.net (CC0)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63040"/>
            <a:ext cx="5943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  <a:latin typeface="Calibri"/>
              </a:rPr>
              <a:t>Technique  ·  keyword string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20240"/>
            <a:ext cx="5943600" cy="1828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Each free-text title is lowercased and searched for category-specific keyword sets. "ML Eng.", "Machine Learning Engineer", and "MLOps Engineer" all collapse into one canonical category: ML Engineer / MLOps.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00400"/>
            <a:ext cx="5943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11880"/>
            <a:ext cx="5943600" cy="2286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Without grouping, the role bar chart would be unreadable (406 categories) and statistical comparisons would be diluted. The 15-bucket schema preserves real signal — ML Engineer ($194K) is genuinely distinct from Data Analyst ($107K) — while keeping every chart legible.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463040"/>
            <a:ext cx="48463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  <a:latin typeface="Calibri"/>
              </a:rPr>
              <a:t>Example mappings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920240"/>
            <a:ext cx="4846320" cy="411480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0" y="1920240"/>
            <a:ext cx="237744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onsolas"/>
              </a:rPr>
              <a:t>"machine learning engineer"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920240"/>
            <a:ext cx="27432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D8973C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1920240"/>
            <a:ext cx="210312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4332"/>
                </a:solidFill>
                <a:latin typeface="Calibri"/>
              </a:rPr>
              <a:t>ML Engineer / MLOps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368296"/>
            <a:ext cx="4846320" cy="411480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2368296"/>
            <a:ext cx="237744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onsolas"/>
              </a:rPr>
              <a:t>"mlops engineer"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368296"/>
            <a:ext cx="27432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D8973C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2368296"/>
            <a:ext cx="210312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4332"/>
                </a:solidFill>
                <a:latin typeface="Calibri"/>
              </a:rPr>
              <a:t>ML Engineer / MLOps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816352"/>
            <a:ext cx="4846320" cy="411480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0" y="2816352"/>
            <a:ext cx="237744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onsolas"/>
              </a:rPr>
              <a:t>"applied scientist"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816352"/>
            <a:ext cx="27432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D8973C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816352"/>
            <a:ext cx="210312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4332"/>
                </a:solidFill>
                <a:latin typeface="Calibri"/>
              </a:rPr>
              <a:t>Data Scientist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264408"/>
            <a:ext cx="4846320" cy="411480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0" y="3264408"/>
            <a:ext cx="237744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onsolas"/>
              </a:rPr>
              <a:t>"data engineering manager"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264408"/>
            <a:ext cx="27432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D8973C"/>
                </a:solidFill>
                <a:latin typeface="Calibr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3264408"/>
            <a:ext cx="210312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4332"/>
                </a:solidFill>
                <a:latin typeface="Calibri"/>
              </a:rPr>
              <a:t>Data Engineer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712464"/>
            <a:ext cx="4846320" cy="411480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49440" y="3712464"/>
            <a:ext cx="237744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onsolas"/>
              </a:rPr>
              <a:t>"bi analyst"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712464"/>
            <a:ext cx="27432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D8973C"/>
                </a:solidFill>
                <a:latin typeface="Calibri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3712464"/>
            <a:ext cx="210312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4332"/>
                </a:solidFill>
                <a:latin typeface="Calibri"/>
              </a:rPr>
              <a:t>Data Analyst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160520"/>
            <a:ext cx="4846320" cy="411480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49440" y="4160520"/>
            <a:ext cx="237744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onsolas"/>
              </a:rPr>
              <a:t>"deep learning researcher"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4160520"/>
            <a:ext cx="27432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D8973C"/>
                </a:solidFill>
                <a:latin typeface="Calibri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4160520"/>
            <a:ext cx="210312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4332"/>
                </a:solidFill>
                <a:latin typeface="Calibri"/>
              </a:rPr>
              <a:t>AI / ML Researcher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4608576"/>
            <a:ext cx="4846320" cy="411480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49440" y="4608576"/>
            <a:ext cx="237744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onsolas"/>
              </a:rPr>
              <a:t>"head of analytics"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4608576"/>
            <a:ext cx="27432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D8973C"/>
                </a:solidFill>
                <a:latin typeface="Calibri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4608576"/>
            <a:ext cx="210312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B4332"/>
                </a:solidFill>
                <a:latin typeface="Calibri"/>
              </a:rPr>
              <a:t>Manager / Director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52160"/>
            <a:ext cx="11277295" cy="548640"/>
          </a:xfrm>
          <a:prstGeom prst="roundRect">
            <a:avLst/>
          </a:prstGeom>
          <a:solidFill>
            <a:srgbClr val="FFF4E5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1" i="0">
                <a:solidFill>
                  <a:srgbClr val="D8973C"/>
                </a:solidFill>
                <a:latin typeface="Calibri"/>
              </a:rPr>
              <a:t>Outcome:  </a:t>
            </a:r>
            <a:r>
              <a:rPr sz="1200" b="1" i="0">
                <a:solidFill>
                  <a:srgbClr val="1B4332"/>
                </a:solidFill>
                <a:latin typeface="Calibri"/>
              </a:rPr>
              <a:t>ML Engineer / MLOps  $194,303</a:t>
            </a:r>
            <a:r>
              <a:rPr sz="1200" b="0" i="0">
                <a:solidFill>
                  <a:srgbClr val="555555"/>
                </a:solidFill>
                <a:latin typeface="Calibri"/>
              </a:rPr>
              <a:t>  →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Software Engineer  $180,027</a:t>
            </a:r>
            <a:r>
              <a:rPr sz="1200" b="0" i="0">
                <a:solidFill>
                  <a:srgbClr val="555555"/>
                </a:solidFill>
                <a:latin typeface="Calibri"/>
              </a:rPr>
              <a:t>  →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Data Analyst  $107,465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8288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7315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JOB MARKET INTELLIGENCE  ·  CS3012  ·  GROUP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11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Stages 4 &amp; 5 — Summarize  ·  Engineer 12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From flat data to analysis-ready features for Tableau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FAST-NUCES Islamabad  ·  Spring 2026  ·  Dr. Atif Mughees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Source: aijobs.net (CC0)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37160" cy="411480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463040"/>
            <a:ext cx="5486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52B788"/>
                </a:solidFill>
                <a:latin typeface="Calibri"/>
              </a:rPr>
              <a:t>04  ·  SUMMARIZE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920240"/>
            <a:ext cx="5486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24028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10 summary CSVs in notebooks/outputs/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606040"/>
            <a:ext cx="5029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● summary_year_trend.csv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852928"/>
            <a:ext cx="5029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● summary_by_role.csv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099816"/>
            <a:ext cx="5029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● summary_by_experience.csv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346704"/>
            <a:ext cx="5029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● summary_by_country.csv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93592"/>
            <a:ext cx="5029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● summary_by_region.csv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840480"/>
            <a:ext cx="5029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● summary_us_vs_row.csv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087368"/>
            <a:ext cx="5029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● summary_ai_core_vs_tech.csv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334256"/>
            <a:ext cx="5029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● summary_remote_trend.csv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581144"/>
            <a:ext cx="5029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● summary_salary_bands.csv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828032"/>
            <a:ext cx="5029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● analysis_summary.csv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463040"/>
            <a:ext cx="137160" cy="4114800"/>
          </a:xfrm>
          <a:prstGeom prst="rect">
            <a:avLst/>
          </a:prstGeom>
          <a:solidFill>
            <a:srgbClr val="D89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29400" y="1463040"/>
            <a:ext cx="5486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D8973C"/>
                </a:solidFill>
                <a:latin typeface="Calibri"/>
              </a:rPr>
              <a:t>05  ·  ENGINEER (12 derived columns)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1965960"/>
            <a:ext cx="521208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629400" y="1965960"/>
            <a:ext cx="137160" cy="59436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0" y="2011680"/>
            <a:ext cx="5029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B4332"/>
                </a:solidFill>
                <a:latin typeface="Calibri"/>
              </a:rPr>
              <a:t>◆ CATEGORICAL BINS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258568"/>
            <a:ext cx="5029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salary_band  ·  salary_quartile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9400" y="2624328"/>
            <a:ext cx="521208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629400" y="2624328"/>
            <a:ext cx="137160" cy="59436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0" y="2670048"/>
            <a:ext cx="5029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◆ GEOGRAPHIC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2916936"/>
            <a:ext cx="5029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region  ·  is_us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29400" y="3282696"/>
            <a:ext cx="521208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629400" y="3282696"/>
            <a:ext cx="137160" cy="59436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0" y="3328416"/>
            <a:ext cx="5029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40916C"/>
                </a:solidFill>
                <a:latin typeface="Calibri"/>
              </a:rPr>
              <a:t>◆ ROLE FAMILY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575304"/>
            <a:ext cx="5029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is_ai_core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29400" y="3941064"/>
            <a:ext cx="521208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2B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629400" y="3941064"/>
            <a:ext cx="137160" cy="59436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58000" y="3986784"/>
            <a:ext cx="5029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52B788"/>
                </a:solidFill>
                <a:latin typeface="Calibri"/>
              </a:rPr>
              <a:t>◆ SORT KEY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4233672"/>
            <a:ext cx="5029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exp_order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29400" y="4599432"/>
            <a:ext cx="521208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629400" y="4599432"/>
            <a:ext cx="137160" cy="594360"/>
          </a:xfrm>
          <a:prstGeom prst="rect">
            <a:avLst/>
          </a:prstGeom>
          <a:solidFill>
            <a:srgbClr val="D89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0" y="4645152"/>
            <a:ext cx="5029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D8973C"/>
                </a:solidFill>
                <a:latin typeface="Calibri"/>
              </a:rPr>
              <a:t>◆ YEAR-RELATIVE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892040"/>
            <a:ext cx="5029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year_avg_salary  ·  salary_vs_year_avg  ·  …pct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29400" y="5257800"/>
            <a:ext cx="521208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47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629400" y="5257800"/>
            <a:ext cx="137160" cy="594360"/>
          </a:xfrm>
          <a:prstGeom prst="rect">
            <a:avLst/>
          </a:prstGeom>
          <a:solidFill>
            <a:srgbClr val="BC4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858000" y="5303520"/>
            <a:ext cx="5029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BC4749"/>
                </a:solidFill>
                <a:latin typeface="Calibri"/>
              </a:rPr>
              <a:t>◆ ROLE-RELATIVE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5550408"/>
            <a:ext cx="5029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role_avg_salary  ·  salary_vs_role_avg  ·  …pct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8288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7315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JOB MARKET INTELLIGENCE  ·  CS3012  ·  GROUP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12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20 figures across 7 themes — built in Python before designing Tableau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FAST-NUCES Islamabad  ·  Spring 2026  ·  Dr. Atif Mughees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Source: aijobs.net (CC0)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463040"/>
            <a:ext cx="36576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1_sala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3566160" cy="21488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200" y="3657600"/>
            <a:ext cx="3657600" cy="2743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Salary distribution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463040"/>
            <a:ext cx="36576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04_salary_by_r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508760"/>
            <a:ext cx="3566160" cy="214884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251960" y="3657600"/>
            <a:ext cx="3657600" cy="27432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51960" y="365760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Top-paying roles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463040"/>
            <a:ext cx="36576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47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10_remote_trend_stack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508760"/>
            <a:ext cx="3566160" cy="21488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46720" y="3657600"/>
            <a:ext cx="3657600" cy="274320"/>
          </a:xfrm>
          <a:prstGeom prst="rect">
            <a:avLst/>
          </a:prstGeom>
          <a:solidFill>
            <a:srgbClr val="BC4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365760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Remote-work collapse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60520"/>
            <a:ext cx="36576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11_salary_by_reg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206240"/>
            <a:ext cx="3566160" cy="214884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solidFill>
            <a:srgbClr val="D89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Regional pay gap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4160520"/>
            <a:ext cx="36576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07_salary_vs_experie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4206240"/>
            <a:ext cx="3566160" cy="214884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251960" y="6355080"/>
            <a:ext cx="3657600" cy="27432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51960" y="635508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Career progression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4160520"/>
            <a:ext cx="36576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2B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13_ai_core_vs_data_te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4206240"/>
            <a:ext cx="3566160" cy="214884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8046720" y="6355080"/>
            <a:ext cx="3657600" cy="2743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46720" y="635508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AI Core premium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8288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7315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JOB MARKET INTELLIGENCE  ·  CS3012  ·  GROUP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13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Tableau Master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1200 × 1500  ·  10 worksheets  ·  5 KPI tiles  ·  4 insight callouts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FAST-NUCES Islamabad  ·  Spring 2026  ·  Dr. Atif Mughees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Source: aijobs.net (CC0)</a:t>
            </a:r>
          </a:p>
        </p:txBody>
      </p:sp>
      <p:pic>
        <p:nvPicPr>
          <p:cNvPr id="12" name="Picture 11" descr="Tableau_Mast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417320"/>
            <a:ext cx="8229600" cy="5074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1554480"/>
            <a:ext cx="14630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✦ Forest emerald palette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011680"/>
            <a:ext cx="14630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40916C"/>
                </a:solidFill>
                <a:latin typeface="Calibri"/>
              </a:rPr>
              <a:t>✦ Click-to-filter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468880"/>
            <a:ext cx="14630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D8973C"/>
                </a:solidFill>
                <a:latin typeface="Calibri"/>
              </a:rPr>
              <a:t>✦ 5 colour-coded KPI tiles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926080"/>
            <a:ext cx="14630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BC4749"/>
                </a:solidFill>
                <a:latin typeface="Calibri"/>
              </a:rPr>
              <a:t>✦ 4 insight callouts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1554480"/>
            <a:ext cx="1828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1" i="0">
                <a:solidFill>
                  <a:srgbClr val="2D6A4F"/>
                </a:solidFill>
                <a:latin typeface="Calibri"/>
              </a:rPr>
              <a:t>Top-down narrative grid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011680"/>
            <a:ext cx="1828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1" i="0">
                <a:solidFill>
                  <a:srgbClr val="40916C"/>
                </a:solidFill>
                <a:latin typeface="Calibri"/>
              </a:rPr>
              <a:t>Section bands group sheets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2468880"/>
            <a:ext cx="1828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1" i="0">
                <a:solidFill>
                  <a:srgbClr val="D8973C"/>
                </a:solidFill>
                <a:latin typeface="Calibri"/>
              </a:rPr>
              <a:t>Mint section headers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2926080"/>
            <a:ext cx="1828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1" i="0">
                <a:solidFill>
                  <a:srgbClr val="BC4749"/>
                </a:solidFill>
                <a:latin typeface="Calibri"/>
              </a:rPr>
              <a:t>Forest title + footer bars →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8288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7315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JOB MARKET INTELLIGENCE  ·  CS3012  ·  GROUP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14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Section 1 — Salary Trends &amp; Role Compensation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Sheet 1 — Salary Trend  ·  Sheet 2 — Salary By Role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FAST-NUCES Islamabad  ·  Spring 2026  ·  Dr. Atif Mughees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Source: aijobs.net (CC0)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Salary Trend (2022 – 2025)</a:t>
            </a:r>
          </a:p>
        </p:txBody>
      </p:sp>
      <p:pic>
        <p:nvPicPr>
          <p:cNvPr id="13" name="Picture 12" descr="Tableau_Salar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5486400" cy="27432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4892040"/>
            <a:ext cx="5486400" cy="1280160"/>
          </a:xfrm>
          <a:prstGeom prst="roundRect">
            <a:avLst/>
          </a:prstGeom>
          <a:solidFill>
            <a:srgbClr val="FFF4E5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983480"/>
            <a:ext cx="521208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D8973C"/>
                </a:solidFill>
                <a:latin typeface="Calibri"/>
              </a:rPr>
              <a:t>ANALYSIS  ·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Median climbed 46% from $102K (2022) → $149K (2024). Submission volume grew 48× as the platform matured.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554480"/>
            <a:ext cx="5486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Salary By Role (Top 10)</a:t>
            </a:r>
          </a:p>
        </p:txBody>
      </p:sp>
      <p:pic>
        <p:nvPicPr>
          <p:cNvPr id="17" name="Picture 16" descr="Tableau_Salary_By_R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65960"/>
            <a:ext cx="5486400" cy="27432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17920" y="4892040"/>
            <a:ext cx="5486400" cy="1280160"/>
          </a:xfrm>
          <a:prstGeom prst="roundRect">
            <a:avLst/>
          </a:prstGeom>
          <a:solidFill>
            <a:srgbClr val="FFF4E5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4983480"/>
            <a:ext cx="521208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D8973C"/>
                </a:solidFill>
                <a:latin typeface="Calibri"/>
              </a:rPr>
              <a:t>ANALYSIS  ·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ML Engineer / MLOps leads at $194K — 81% above Data Analyst. Top six roles all clear the $170K mark.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8288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7315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JOB MARKET INTELLIGENCE  ·  CS3012  ·  GROUP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15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Section 2 — Work Mode  ·  Experience  ·  Geography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Sheets 3, 4, 5 — Work Mode donut, Experience bars, World choropleth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FAST-NUCES Islamabad  ·  Spring 2026  ·  Dr. Atif Mughees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Source: aijobs.net (CC0)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Work Mode (Donut)</a:t>
            </a:r>
          </a:p>
        </p:txBody>
      </p:sp>
      <p:pic>
        <p:nvPicPr>
          <p:cNvPr id="13" name="Picture 12" descr="Tableau_Work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3657600" cy="25603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4663440"/>
            <a:ext cx="3657600" cy="1463040"/>
          </a:xfrm>
          <a:prstGeom prst="roundRect">
            <a:avLst/>
          </a:prstGeom>
          <a:solidFill>
            <a:srgbClr val="FFF4E5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754880"/>
            <a:ext cx="338328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8973C"/>
                </a:solidFill>
                <a:latin typeface="Calibri"/>
              </a:rPr>
              <a:t>ANALYSIS  ·  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On-site dominates at ~74%. Remote shrunk; hybrid is gone.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1554480"/>
            <a:ext cx="3657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Salary vs Experience</a:t>
            </a:r>
          </a:p>
        </p:txBody>
      </p:sp>
      <p:pic>
        <p:nvPicPr>
          <p:cNvPr id="17" name="Picture 16" descr="Tableau_Salary_Vs_Experi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965960"/>
            <a:ext cx="3657600" cy="256032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251960" y="4663440"/>
            <a:ext cx="3657600" cy="1463040"/>
          </a:xfrm>
          <a:prstGeom prst="roundRect">
            <a:avLst/>
          </a:prstGeom>
          <a:solidFill>
            <a:srgbClr val="FFF4E5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4754880"/>
            <a:ext cx="338328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8973C"/>
                </a:solidFill>
                <a:latin typeface="Calibri"/>
              </a:rPr>
              <a:t>ANALYSIS  ·  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$103K → $140K → $170K → $196K  (1.91× from Entry to Exec).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554480"/>
            <a:ext cx="3657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Global Hiring Map</a:t>
            </a:r>
          </a:p>
        </p:txBody>
      </p:sp>
      <p:pic>
        <p:nvPicPr>
          <p:cNvPr id="21" name="Picture 20" descr="Tableau_Global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965960"/>
            <a:ext cx="3657600" cy="256032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046720" y="4663440"/>
            <a:ext cx="3657600" cy="1463040"/>
          </a:xfrm>
          <a:prstGeom prst="roundRect">
            <a:avLst/>
          </a:prstGeom>
          <a:solidFill>
            <a:srgbClr val="FFF4E5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80" y="4754880"/>
            <a:ext cx="338328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8973C"/>
                </a:solidFill>
                <a:latin typeface="Calibri"/>
              </a:rPr>
              <a:t>ANALYSIS  ·  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US dominates volume. Click any country to filter every other panel.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8288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7315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JOB MARKET INTELLIGENCE  ·  CS3012  ·  GROUP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16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Section 3 — Regional · Company Size · Role Family · Market Concentration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Sheets 6, 7, 8, 9 — four comparative panels added in the latest rev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FAST-NUCES Islamabad  ·  Spring 2026  ·  Dr. Atif Mughees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Source: aijobs.net (CC0)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26974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B4332"/>
                </a:solidFill>
                <a:latin typeface="Calibri"/>
              </a:rPr>
              <a:t>By Region</a:t>
            </a:r>
          </a:p>
        </p:txBody>
      </p:sp>
      <p:pic>
        <p:nvPicPr>
          <p:cNvPr id="13" name="Picture 12" descr="Tableau_Salary_B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2697480" cy="21945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4297680"/>
            <a:ext cx="2697480" cy="1554480"/>
          </a:xfrm>
          <a:prstGeom prst="roundRect">
            <a:avLst/>
          </a:prstGeom>
          <a:solidFill>
            <a:srgbClr val="FFF4E5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251460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8973C"/>
                </a:solidFill>
                <a:latin typeface="Calibri"/>
              </a:rPr>
              <a:t>● 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North America $159K dominates. 94% premium over Latin America.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554480"/>
            <a:ext cx="26974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B4332"/>
                </a:solidFill>
                <a:latin typeface="Calibri"/>
              </a:rPr>
              <a:t>By Company Size</a:t>
            </a:r>
          </a:p>
        </p:txBody>
      </p:sp>
      <p:pic>
        <p:nvPicPr>
          <p:cNvPr id="17" name="Picture 16" descr="Tableau_Salary_By_Company_S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965960"/>
            <a:ext cx="2697480" cy="219456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3291840" y="4297680"/>
            <a:ext cx="2697480" cy="1554480"/>
          </a:xfrm>
          <a:prstGeom prst="roundRect">
            <a:avLst/>
          </a:prstGeom>
          <a:solidFill>
            <a:srgbClr val="FFF4E5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83280" y="4389120"/>
            <a:ext cx="251460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8973C"/>
                </a:solidFill>
                <a:latin typeface="Calibri"/>
              </a:rPr>
              <a:t>● 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Small $103K → Medium $155K → Large $165K. The big jump is Small→Medium.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554480"/>
            <a:ext cx="26974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B4332"/>
                </a:solidFill>
                <a:latin typeface="Calibri"/>
              </a:rPr>
              <a:t>AI Core vs Data&amp;Tech</a:t>
            </a:r>
          </a:p>
        </p:txBody>
      </p:sp>
      <p:pic>
        <p:nvPicPr>
          <p:cNvPr id="21" name="Picture 20" descr="Tableau_AI_Core_Vs_Data_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965960"/>
            <a:ext cx="2697480" cy="219456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126480" y="4297680"/>
            <a:ext cx="2697480" cy="1554480"/>
          </a:xfrm>
          <a:prstGeom prst="roundRect">
            <a:avLst/>
          </a:prstGeom>
          <a:solidFill>
            <a:srgbClr val="FFF4E5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4389120"/>
            <a:ext cx="251460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8973C"/>
                </a:solidFill>
                <a:latin typeface="Calibri"/>
              </a:rPr>
              <a:t>● 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AI/ML Core $171K vs Data&amp;Tech $151K — a 13% "AI tax" premium.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1554480"/>
            <a:ext cx="26974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B4332"/>
                </a:solidFill>
                <a:latin typeface="Calibri"/>
              </a:rPr>
              <a:t>US vs Rest of World</a:t>
            </a:r>
          </a:p>
        </p:txBody>
      </p:sp>
      <p:pic>
        <p:nvPicPr>
          <p:cNvPr id="25" name="Picture 24" descr="Tableau_US_Vs_Rest_Of_Wor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1965960"/>
            <a:ext cx="2697480" cy="219456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961120" y="4297680"/>
            <a:ext cx="2697480" cy="1554480"/>
          </a:xfrm>
          <a:prstGeom prst="roundRect">
            <a:avLst/>
          </a:prstGeom>
          <a:solidFill>
            <a:srgbClr val="FFF4E5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60" y="4389120"/>
            <a:ext cx="251460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8973C"/>
                </a:solidFill>
                <a:latin typeface="Calibri"/>
              </a:rPr>
              <a:t>● 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US $161K vs RoW $108K — 49% premium per record (133K vs 14K rows).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8288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7315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JOB MARKET INTELLIGENCE  ·  CS3012  ·  GROUP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17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Section 4 — Salary Distribution Across Pay Bands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Sheet 10 — full-width histogram of every record across 6 bands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FAST-NUCES Islamabad  ·  Spring 2026  ·  Dr. Atif Mughees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Source: aijobs.net (CC0)</a:t>
            </a:r>
          </a:p>
        </p:txBody>
      </p:sp>
      <p:pic>
        <p:nvPicPr>
          <p:cNvPr id="12" name="Picture 11" descr="Tableau_Salary_Band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881360" cy="22860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57200" y="4114800"/>
            <a:ext cx="1874519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47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1874519" cy="274320"/>
          </a:xfrm>
          <a:prstGeom prst="rect">
            <a:avLst/>
          </a:prstGeom>
          <a:solidFill>
            <a:srgbClr val="BC4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1874519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&lt;$60K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34840"/>
            <a:ext cx="1874519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BC4749"/>
                </a:solidFill>
                <a:latin typeface="Calibri"/>
              </a:rPr>
              <a:t>3.9%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37760"/>
            <a:ext cx="1874519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5,742 rows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59" y="4114800"/>
            <a:ext cx="1874519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3159" y="4114800"/>
            <a:ext cx="1874519" cy="274320"/>
          </a:xfrm>
          <a:prstGeom prst="rect">
            <a:avLst/>
          </a:prstGeom>
          <a:solidFill>
            <a:srgbClr val="D89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23159" y="4114800"/>
            <a:ext cx="1874519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$60K–$100K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59" y="4434840"/>
            <a:ext cx="1874519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D8973C"/>
                </a:solidFill>
                <a:latin typeface="Calibri"/>
              </a:rPr>
              <a:t>18.0%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59" y="4937760"/>
            <a:ext cx="1874519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26,572 rows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18" y="4114800"/>
            <a:ext cx="1874519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18" y="4114800"/>
            <a:ext cx="1874519" cy="27432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18" y="4114800"/>
            <a:ext cx="1874519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$100K–$150K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18" y="4434840"/>
            <a:ext cx="1874519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1B4332"/>
                </a:solidFill>
                <a:latin typeface="Calibri"/>
              </a:rPr>
              <a:t>31.0%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18" y="4937760"/>
            <a:ext cx="1874519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45,617 rows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77" y="4114800"/>
            <a:ext cx="1874519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55077" y="4114800"/>
            <a:ext cx="1874519" cy="27432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77" y="4114800"/>
            <a:ext cx="1874519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$150K–$200K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77" y="4434840"/>
            <a:ext cx="1874519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40916C"/>
                </a:solidFill>
                <a:latin typeface="Calibri"/>
              </a:rPr>
              <a:t>24.3%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77" y="4937760"/>
            <a:ext cx="1874519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35,738 rows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36" y="4114800"/>
            <a:ext cx="1874519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321036" y="4114800"/>
            <a:ext cx="1874519" cy="2743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36" y="4114800"/>
            <a:ext cx="1874519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$200K–$260K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36" y="4434840"/>
            <a:ext cx="1874519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2D6A4F"/>
                </a:solidFill>
                <a:latin typeface="Calibri"/>
              </a:rPr>
              <a:t>15.5%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36" y="4937760"/>
            <a:ext cx="1874519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22,901 rows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86995" y="4114800"/>
            <a:ext cx="1874519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2B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286995" y="4114800"/>
            <a:ext cx="1874519" cy="2743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286995" y="4114800"/>
            <a:ext cx="1874519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$260K+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6995" y="4434840"/>
            <a:ext cx="1874519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52B788"/>
                </a:solidFill>
                <a:latin typeface="Calibri"/>
              </a:rPr>
              <a:t>7.3%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86995" y="4937760"/>
            <a:ext cx="1874519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10,778 rows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532120"/>
            <a:ext cx="11277295" cy="640080"/>
          </a:xfrm>
          <a:prstGeom prst="roundRect">
            <a:avLst/>
          </a:prstGeom>
          <a:solidFill>
            <a:srgbClr val="FFF4E5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1" i="0">
                <a:solidFill>
                  <a:srgbClr val="D8973C"/>
                </a:solidFill>
                <a:latin typeface="Calibri"/>
              </a:rPr>
              <a:t>✦  Insight  ·  </a:t>
            </a:r>
            <a:r>
              <a:rPr sz="1200" b="1" i="0">
                <a:solidFill>
                  <a:srgbClr val="1B4332"/>
                </a:solidFill>
                <a:latin typeface="Calibri"/>
              </a:rPr>
              <a:t>55% of all records sit in the $100K–$200K window.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  Modal class is $100K–$150K with 31% / ~46K rows. The top tier $260K+ holds a non-trivial 7.3% / 10,778 rows.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8288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7315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JOB MARKET INTELLIGENCE  ·  CS3012  ·  GROUP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18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The Story Our Dashboard Tells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A four-act narrative running top-to-bottom on the canvas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FAST-NUCES Islamabad  ·  Spring 2026  ·  Dr. Atif Mughees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Source: aijobs.net (CC0)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164592" cy="1143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1554480"/>
            <a:ext cx="11094415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1600200"/>
            <a:ext cx="9144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200" b="1" i="0">
                <a:solidFill>
                  <a:srgbClr val="1B4332"/>
                </a:solidFill>
                <a:latin typeface="Calibri"/>
              </a:rPr>
              <a:t>ACT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645920"/>
            <a:ext cx="7772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  <a:latin typeface="Calibri"/>
              </a:rPr>
              <a:t>The market is broadening, not inflating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057400"/>
            <a:ext cx="7772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Volume jumps 48× while median salary plateaus near $146K.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645920"/>
            <a:ext cx="1828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 i="0">
                <a:solidFill>
                  <a:srgbClr val="555555"/>
                </a:solidFill>
                <a:latin typeface="Calibri"/>
              </a:rPr>
              <a:t>REFERS 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965960"/>
            <a:ext cx="1828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200" b="1" i="0">
                <a:solidFill>
                  <a:srgbClr val="1B4332"/>
                </a:solidFill>
                <a:latin typeface="Calibri"/>
              </a:rPr>
              <a:t>Sheets 1,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88920"/>
            <a:ext cx="164592" cy="11430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" y="2788920"/>
            <a:ext cx="11094415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2834640"/>
            <a:ext cx="9144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200" b="1" i="0">
                <a:solidFill>
                  <a:srgbClr val="2D6A4F"/>
                </a:solidFill>
                <a:latin typeface="Calibri"/>
              </a:rPr>
              <a:t>ACT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2880360"/>
            <a:ext cx="7772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  <a:latin typeface="Calibri"/>
              </a:rPr>
              <a:t>Career level matters more than work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291840"/>
            <a:ext cx="7772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$103K → $196K from Entry to Exec, while remote retreats to 20%.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880360"/>
            <a:ext cx="1828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 i="0">
                <a:solidFill>
                  <a:srgbClr val="555555"/>
                </a:solidFill>
                <a:latin typeface="Calibri"/>
              </a:rPr>
              <a:t>REFERS 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200400"/>
            <a:ext cx="1828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200" b="1" i="0">
                <a:solidFill>
                  <a:srgbClr val="2D6A4F"/>
                </a:solidFill>
                <a:latin typeface="Calibri"/>
              </a:rPr>
              <a:t>Sheets 3, 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23360"/>
            <a:ext cx="164592" cy="114300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0080" y="4023360"/>
            <a:ext cx="11094415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4069080"/>
            <a:ext cx="9144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200" b="1" i="0">
                <a:solidFill>
                  <a:srgbClr val="40916C"/>
                </a:solidFill>
                <a:latin typeface="Calibri"/>
              </a:rPr>
              <a:t>ACT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114800"/>
            <a:ext cx="7772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  <a:latin typeface="Calibri"/>
              </a:rPr>
              <a:t>Geography concentrates the money in North America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526280"/>
            <a:ext cx="7772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US 90% of submissions at $161K; world average drops to $108K.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114800"/>
            <a:ext cx="1828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 i="0">
                <a:solidFill>
                  <a:srgbClr val="555555"/>
                </a:solidFill>
                <a:latin typeface="Calibri"/>
              </a:rPr>
              <a:t>REFERS 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4434840"/>
            <a:ext cx="1828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200" b="1" i="0">
                <a:solidFill>
                  <a:srgbClr val="40916C"/>
                </a:solidFill>
                <a:latin typeface="Calibri"/>
              </a:rPr>
              <a:t>Sheets 4, 6, 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257800"/>
            <a:ext cx="164592" cy="1143000"/>
          </a:xfrm>
          <a:prstGeom prst="rect">
            <a:avLst/>
          </a:prstGeom>
          <a:solidFill>
            <a:srgbClr val="D89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40080" y="5257800"/>
            <a:ext cx="11094415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5303520"/>
            <a:ext cx="9144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200" b="1" i="0">
                <a:solidFill>
                  <a:srgbClr val="D8973C"/>
                </a:solidFill>
                <a:latin typeface="Calibri"/>
              </a:rPr>
              <a:t>ACT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349240"/>
            <a:ext cx="7772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  <a:latin typeface="Calibri"/>
              </a:rPr>
              <a:t>Direct AI/ML exposure is rewarded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5760720"/>
            <a:ext cx="7772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AI Core premium of 13%; ML Engineer / MLOps tops the pay table.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5349240"/>
            <a:ext cx="1828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1" i="0">
                <a:solidFill>
                  <a:srgbClr val="555555"/>
                </a:solidFill>
                <a:latin typeface="Calibri"/>
              </a:rPr>
              <a:t>REFERS 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5669280"/>
            <a:ext cx="1828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200" b="1" i="0">
                <a:solidFill>
                  <a:srgbClr val="D8973C"/>
                </a:solidFill>
                <a:latin typeface="Calibri"/>
              </a:rPr>
              <a:t>Sheets 7, 8,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→  The reader can interrogate any act by clicking a country, picking a year, or selecting a role bar.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8288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7315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JOB MARKET INTELLIGENCE  ·  CS3012  ·  GROUP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19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Key Insights — Part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What the data revealed (1 / 2)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FAST-NUCES Islamabad  ·  Spring 2026  ·  Dr. Atif Mughees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Source: aijobs.net (CC0)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55448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554480"/>
            <a:ext cx="640080" cy="219456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554480"/>
            <a:ext cx="640080" cy="2194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1645920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ML Engineering is the highest-paid AI/ML 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011680"/>
            <a:ext cx="4572000" cy="1691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ML Engineer / MLOps leads at $194,303 — 81% above Data Analyst. Software Engineer ($180K) and Research Scientist ($175K) follow.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55448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640080" cy="219456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1554480"/>
            <a:ext cx="640080" cy="2194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645920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Compensation grows nearly 2× from Entry to Executive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011680"/>
            <a:ext cx="4572000" cy="1691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Entry $102,743 → Mid $140,382 → Senior $170,351 → Executive $195,935. The EX/EN ratio is exactly 1.91×.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7764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977640"/>
            <a:ext cx="640080" cy="219456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977640"/>
            <a:ext cx="640080" cy="2194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069080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Remote work has collapsed since 2022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434840"/>
            <a:ext cx="4572000" cy="1691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Remote dropped from 53.5% (2022) to 20.3% (2025). On-site nearly doubled from 43.5% to 79.6%. Hybrid effectively vanished.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97764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3977640"/>
            <a:ext cx="640080" cy="2194560"/>
          </a:xfrm>
          <a:prstGeom prst="rect">
            <a:avLst/>
          </a:prstGeom>
          <a:solidFill>
            <a:srgbClr val="D89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3977640"/>
            <a:ext cx="640080" cy="2194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4069080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The US dominates volume — and the premium is everywhere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4434840"/>
            <a:ext cx="4572000" cy="1691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United States supplies 90.4% of submissions (133,143 rows) at $161,381 average. Rest of World averages $108,024.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8288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7315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JOB MARKET INTELLIGENCE  ·  CS3012  ·  GROUP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20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Key Insights — Part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What the data revealed (2 / 2)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FAST-NUCES Islamabad  ·  Spring 2026  ·  Dr. Atif Mughees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Source: aijobs.net (CC0)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55448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47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554480"/>
            <a:ext cx="640080" cy="2194560"/>
          </a:xfrm>
          <a:prstGeom prst="rect">
            <a:avLst/>
          </a:prstGeom>
          <a:solidFill>
            <a:srgbClr val="BC4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554480"/>
            <a:ext cx="640080" cy="2194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1645920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Salaries are concentrated in $100K–$200K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011680"/>
            <a:ext cx="4572000" cy="1691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55% of all records sit in the $100K–$200K window (31% in $100K–$150K + 24% in $150K–$200K). Top tier $260K+ holds 7.3%.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55448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640080" cy="219456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1554480"/>
            <a:ext cx="640080" cy="2194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645920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AI/ML Core commands a 13% premium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011680"/>
            <a:ext cx="4572000" cy="1691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AI/ML Core averages $171,009 vs $150,685 for Data &amp; Tech. Direct AI/ML exposure earns ~$20K extra per year.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7764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977640"/>
            <a:ext cx="640080" cy="219456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977640"/>
            <a:ext cx="640080" cy="2194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069080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Company size matters — but only past Small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434840"/>
            <a:ext cx="4572000" cy="1691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Small $103K → Medium $155K → Large $165K. The biggest jump is Small→Medium (+50%); Medium→Large is only $10K.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97764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3977640"/>
            <a:ext cx="640080" cy="219456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3977640"/>
            <a:ext cx="640080" cy="21945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4069080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The market is maturing — volume up, pay flat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4434840"/>
            <a:ext cx="4572000" cy="1691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Submission volume grew 48× from 2022 (1,587) to 2025 (76,424). Median salary trajectory plateaus after 2024 ($149K → $146K).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8288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7315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JOB MARKET INTELLIGENCE  ·  CS3012  ·  GROUP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21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How Tableau Helped (1 /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From static figures to a tool that stakeholders can interrogate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FAST-NUCES Islamabad  ·  Spring 2026  ·  Dr. Atif Mughees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Source: aijobs.net (CC0)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55448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  ·  Single Interactive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011680"/>
            <a:ext cx="5120640" cy="1691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The 20 Python figures each told one story. Tableau merged the strongest 10 into a unified 1200×1500 dashboard with cross-filtering — investigate any cohort without producing a new figure.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554480"/>
            <a:ext cx="5486400" cy="36576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1554480"/>
            <a:ext cx="54864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  ·  Click-to-Filter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11680"/>
            <a:ext cx="5120640" cy="1691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A single Filter action on the Global Map propagates the selected country into every other worksheet — synchronised cross-analysis impractical to replicate in matplotlib.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7764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977640"/>
            <a:ext cx="5486400" cy="36576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977640"/>
            <a:ext cx="54864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  ·  Custom Calculated Fields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34840"/>
            <a:ext cx="5120640" cy="1691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Avg Salary USD, Median Salary USD, EX/EN Ratio, custom shelf sorts on salary_band and title_group. Consistent metrics across every worksheet.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97764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3977640"/>
            <a:ext cx="5486400" cy="365760"/>
          </a:xfrm>
          <a:prstGeom prst="rect">
            <a:avLst/>
          </a:prstGeom>
          <a:solidFill>
            <a:srgbClr val="D89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3977640"/>
            <a:ext cx="54864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04  ·  Geographic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434840"/>
            <a:ext cx="5120640" cy="1691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Tagging company_location with Country/Region role auto-resolved 87 ISO-2 codes into a world choropleth — no GIS code required.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8288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7315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JOB MARKET INTELLIGENCE  ·  CS3012  ·  GROUP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22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How Tableau Helped (2 /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From explore to communicate — Tableau's compounding advantages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FAST-NUCES Islamabad  ·  Spring 2026  ·  Dr. Atif Mughees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Source: aijobs.net (CC0)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55448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47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solidFill>
            <a:srgbClr val="BC4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05  ·  Tooltips Beat Static Legends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011680"/>
            <a:ext cx="5120640" cy="1691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Every panel has a custom tooltip (count, avg, median, deviation). Hovering replaces the need for legends — every chart self-documents.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554480"/>
            <a:ext cx="5486400" cy="36576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1554480"/>
            <a:ext cx="54864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06  ·  KPI Strip for At-A-Glance Reading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11680"/>
            <a:ext cx="5120640" cy="1691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Five colour-coded KPI tiles ($147K · $156K · 147,348 · 20.8% · 1.91×) sit under the title bar — readers grasp the market in two seconds.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7764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977640"/>
            <a:ext cx="5486400" cy="36576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977640"/>
            <a:ext cx="54864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07  ·  Visual Encoding Richness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34840"/>
            <a:ext cx="5120640" cy="1691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Sequential color (choropleth · role bar), categorical palettes (Work Mode · Salary Band), dual-pane on Trend (median line + volume bars) — all from one tool.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97764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3977640"/>
            <a:ext cx="5486400" cy="36576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3977640"/>
            <a:ext cx="54864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08  ·  Reproducibility via Packaged .twb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434840"/>
            <a:ext cx="5120640" cy="1691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Entire dashboard is a single Dashboard.twb XML file. Anyone with Tableau Desktop can repoint the data and reproduce every chart — no hidden state.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126480"/>
            <a:ext cx="11277295" cy="502920"/>
          </a:xfrm>
          <a:prstGeom prst="roundRect">
            <a:avLst/>
          </a:prstGeom>
          <a:solidFill>
            <a:srgbClr val="E8F1ED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6126480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  <a:latin typeface="Calibri"/>
              </a:rPr>
              <a:t>✦  In one sentence  ·  </a:t>
            </a:r>
            <a:r>
              <a:rPr sz="1100" b="0" i="1">
                <a:solidFill>
                  <a:srgbClr val="1A1A1A"/>
                </a:solidFill>
                <a:latin typeface="Calibri"/>
              </a:rPr>
              <a:t>Tableau converted our static findings into a tool. Without it the report is a deck of charts; with it, the report has a companion artefact that the reader can manipulate.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8288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7315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JOB MARKET INTELLIGENCE  ·  CS3012  ·  GROUP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23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Design System  ·  Forest Emerald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Color palette and visual language used across dashboard and 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FAST-NUCES Islamabad  ·  Spring 2026  ·  Dr. Atif Mughees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Source: aijobs.net (CC0)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554480"/>
            <a:ext cx="37033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1645920"/>
            <a:ext cx="1188720" cy="118872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74520" y="1645920"/>
            <a:ext cx="2148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2011680"/>
            <a:ext cx="21488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onsolas"/>
              </a:rPr>
              <a:t>#1B4332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" y="2331720"/>
            <a:ext cx="21488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  <a:latin typeface="Calibri"/>
              </a:rPr>
              <a:t>Primary  ·  title bar, footer, KPI #1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554480"/>
            <a:ext cx="37033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1645920"/>
            <a:ext cx="1188720" cy="1188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15000" y="1645920"/>
            <a:ext cx="2148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Emerald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2011680"/>
            <a:ext cx="21488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onsolas"/>
              </a:rPr>
              <a:t>#2D6A4F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2331720"/>
            <a:ext cx="21488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  <a:latin typeface="Calibri"/>
              </a:rPr>
              <a:t>Subtitle, all panel borders (2px)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554480"/>
            <a:ext cx="37033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1645920"/>
            <a:ext cx="1188720" cy="118872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55480" y="1645920"/>
            <a:ext cx="2148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Jade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011680"/>
            <a:ext cx="21488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onsolas"/>
              </a:rPr>
              <a:t>#40916C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331720"/>
            <a:ext cx="21488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  <a:latin typeface="Calibri"/>
              </a:rPr>
              <a:t>KPI #2  ·  Mean salary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063240"/>
            <a:ext cx="37033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2B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3154680"/>
            <a:ext cx="1188720" cy="11887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74520" y="3154680"/>
            <a:ext cx="2148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20" y="3520440"/>
            <a:ext cx="21488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onsolas"/>
              </a:rPr>
              <a:t>#52B788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20" y="3840480"/>
            <a:ext cx="21488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  <a:latin typeface="Calibri"/>
              </a:rPr>
              <a:t>KPI #3  ·  Total records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063240"/>
            <a:ext cx="37033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89120" y="3154680"/>
            <a:ext cx="1188720" cy="1188720"/>
          </a:xfrm>
          <a:prstGeom prst="rect">
            <a:avLst/>
          </a:prstGeom>
          <a:solidFill>
            <a:srgbClr val="D89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15000" y="3154680"/>
            <a:ext cx="2148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Honey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3520440"/>
            <a:ext cx="21488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onsolas"/>
              </a:rPr>
              <a:t>#D8973C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3840480"/>
            <a:ext cx="21488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  <a:latin typeface="Calibri"/>
              </a:rPr>
              <a:t>KPI #4  ·  Remote workers, insight border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3063240"/>
            <a:ext cx="37033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47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29600" y="3154680"/>
            <a:ext cx="1188720" cy="1188720"/>
          </a:xfrm>
          <a:prstGeom prst="rect">
            <a:avLst/>
          </a:prstGeom>
          <a:solidFill>
            <a:srgbClr val="BC4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555480" y="3154680"/>
            <a:ext cx="2148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Rust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3520440"/>
            <a:ext cx="21488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onsolas"/>
              </a:rPr>
              <a:t>#BC4749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3840480"/>
            <a:ext cx="21488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  <a:latin typeface="Calibri"/>
              </a:rPr>
              <a:t>KPI #5  ·  EX/EN multiple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572000"/>
            <a:ext cx="37033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AF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48640" y="4663440"/>
            <a:ext cx="1188720" cy="118872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874520" y="4663440"/>
            <a:ext cx="2148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Cream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74520" y="5029200"/>
            <a:ext cx="21488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onsolas"/>
              </a:rPr>
              <a:t>#FAF8F0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74520" y="5349240"/>
            <a:ext cx="21488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  <a:latin typeface="Calibri"/>
              </a:rPr>
              <a:t>Card / chart background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97680" y="4572000"/>
            <a:ext cx="37033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F1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389120" y="4663440"/>
            <a:ext cx="1188720" cy="1188720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715000" y="4663440"/>
            <a:ext cx="2148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Mint Mist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15000" y="5029200"/>
            <a:ext cx="21488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onsolas"/>
              </a:rPr>
              <a:t>#E8F1ED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15000" y="5349240"/>
            <a:ext cx="21488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  <a:latin typeface="Calibri"/>
              </a:rPr>
              <a:t>Section header bands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38160" y="4572000"/>
            <a:ext cx="37033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4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229600" y="4663440"/>
            <a:ext cx="1188720" cy="1188720"/>
          </a:xfrm>
          <a:prstGeom prst="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555480" y="4663440"/>
            <a:ext cx="2148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Warm Peach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55480" y="5029200"/>
            <a:ext cx="21488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onsolas"/>
              </a:rPr>
              <a:t>#FFF4E5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55480" y="5349240"/>
            <a:ext cx="21488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  <a:latin typeface="Calibri"/>
              </a:rPr>
              <a:t>Insight callout backgrounds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Why this palette? — Distinctive (most dashboards default to blue), accessible (strong contrast), and earthy (signals the maturity of the AI labour market).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8288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7315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JOB MARKET INTELLIGENCE  ·  CS3012  ·  GROUP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24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Tech Stack &amp; Deliverables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What is in the repository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FAST-NUCES Islamabad  ·  Spring 2026  ·  Dr. Atif Mughees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Source: aijobs.net (CC0)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137160" cy="59436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1554480"/>
            <a:ext cx="11094415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1554480"/>
            <a:ext cx="182880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554480"/>
            <a:ext cx="868680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salaries.csv · salaries_clean_final.csv · salaries_enhanced.csv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58568"/>
            <a:ext cx="137160" cy="59436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2258568"/>
            <a:ext cx="11094415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2258568"/>
            <a:ext cx="182880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  <a:latin typeface="Calibri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258568"/>
            <a:ext cx="868680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5 preprocessing scripts · pandas · numpy · scipy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62656"/>
            <a:ext cx="137160" cy="59436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" y="2962656"/>
            <a:ext cx="11094415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2962656"/>
            <a:ext cx="182880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40916C"/>
                </a:solidFill>
                <a:latin typeface="Calibri"/>
              </a:rPr>
              <a:t>EDA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962656"/>
            <a:ext cx="868680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AI_Job_Market_EDA.ipynb · 20 figures · 10 summary CSVs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66744"/>
            <a:ext cx="137160" cy="59436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0080" y="3666744"/>
            <a:ext cx="11094415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2B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666744"/>
            <a:ext cx="182880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52B788"/>
                </a:solidFill>
                <a:latin typeface="Calibri"/>
              </a:rPr>
              <a:t>TABLEAU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3666744"/>
            <a:ext cx="868680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Dashboard.twb (10 worksheets) · Dashboard.pdf · build plan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370832"/>
            <a:ext cx="137160" cy="594360"/>
          </a:xfrm>
          <a:prstGeom prst="rect">
            <a:avLst/>
          </a:prstGeom>
          <a:solidFill>
            <a:srgbClr val="D89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0080" y="4370832"/>
            <a:ext cx="11094415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4370832"/>
            <a:ext cx="182880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D8973C"/>
                </a:solidFill>
                <a:latin typeface="Calibri"/>
              </a:rPr>
              <a:t>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4370832"/>
            <a:ext cx="868680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Final_Project_Report.tex / .pdf  ·  40 pages  ·  9 chapters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074920"/>
            <a:ext cx="137160" cy="594360"/>
          </a:xfrm>
          <a:prstGeom prst="rect">
            <a:avLst/>
          </a:prstGeom>
          <a:solidFill>
            <a:srgbClr val="BC4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40080" y="5074920"/>
            <a:ext cx="11094415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47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5074920"/>
            <a:ext cx="182880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BC4749"/>
                </a:solidFill>
                <a:latin typeface="Calibri"/>
              </a:rPr>
              <a:t>PRESENT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5074920"/>
            <a:ext cx="868680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Group8_Final_Presentation.pptx (this deck)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8288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0"/>
            <a:ext cx="7315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AI JOB MARKET INTELLIGENCE  ·  CS3012  ·  GROUP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25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libri"/>
              </a:rPr>
              <a:t>Conclusion &amp;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What we built and why it matters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FAST-NUCES Islamabad  ·  Spring 2026  ·  Dr. Atif Mughees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460175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Source: aijobs.net (CC0)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554480"/>
            <a:ext cx="548640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554480"/>
            <a:ext cx="5486400" cy="4114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554480"/>
            <a:ext cx="548640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END-TO-END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057400"/>
            <a:ext cx="5120640" cy="1143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From raw 151,445 rows to an interactive 10-worksheet Tableau dashboard, with a Python pipeline and a 40-page report tying it all together.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548640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554480"/>
            <a:ext cx="5486400" cy="4114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1554480"/>
            <a:ext cx="548640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EVIDENCE-BASED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57400"/>
            <a:ext cx="5120640" cy="1143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Every claim in the dashboard is backed by a real CC0 record. No synthetic data introduced anywhere in the pipeline.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474720"/>
            <a:ext cx="548640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09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474720"/>
            <a:ext cx="5486400" cy="41148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474720"/>
            <a:ext cx="548640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INTERACTIVE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5120640" cy="1143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Click any country to re-scope every panel. KPI strip gives a 2-second read. Hover for tooltip-level detail.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74720"/>
            <a:ext cx="548640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9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3474720"/>
            <a:ext cx="5486400" cy="411480"/>
          </a:xfrm>
          <a:prstGeom prst="rect">
            <a:avLst/>
          </a:prstGeom>
          <a:solidFill>
            <a:srgbClr val="D89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3474720"/>
            <a:ext cx="548640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REPRODUCIBLE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977640"/>
            <a:ext cx="5120640" cy="1143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Single .twb file + 5 Python scripts + a CSV. Anyone can clone, repoint, and regenerate.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486400"/>
            <a:ext cx="11277295" cy="1005840"/>
          </a:xfrm>
          <a:prstGeom prst="roundRect">
            <a:avLst/>
          </a:prstGeom>
          <a:solidFill>
            <a:srgbClr val="E8F1ED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  <a:latin typeface="Calibri"/>
              </a:rPr>
              <a:t>FIVE GUIDING QUESTIONS  ·  ALL ANSWERED: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97880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B4332"/>
                </a:solidFill>
                <a:latin typeface="Calibri"/>
              </a:rPr>
              <a:t>ML Engineer at $194K  ·  1.91× from Entry to Exec  ·  Remote 53% → 20%  ·  US 90% of submissions  ·  55% in $100–$200K band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914400" y="5029200"/>
            <a:ext cx="7315200" cy="22860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7315200" cy="10972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058400" y="5029200"/>
            <a:ext cx="2286000" cy="1828800"/>
          </a:xfrm>
          <a:prstGeom prst="rtTriangl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560320"/>
            <a:ext cx="1371600" cy="54864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52B788"/>
                </a:solidFill>
                <a:latin typeface="Calibri"/>
              </a:rPr>
              <a:t>Q  &amp; 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0" i="1">
                <a:solidFill>
                  <a:srgbClr val="FAF8F0"/>
                </a:solidFill>
                <a:latin typeface="Calibri"/>
              </a:rPr>
              <a:t>We welcome your questions on data, methodology, or the dashboard.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52B788"/>
                </a:solidFill>
                <a:latin typeface="Calibri"/>
              </a:rPr>
              <a:t>GROUP 8  ·  CS3012  ·  FAST-NUCES Islamabad  ·  Spring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FAF8F0"/>
                </a:solidFill>
                <a:latin typeface="Calibri"/>
              </a:rPr>
              <a:t>Muhammad Nouman Hafeez (21i-0416)  ·  Muhammad Asim (21i-0852)  ·  Sara Jabeen (21i-0624)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1">
                <a:solidFill>
                  <a:srgbClr val="FAF8F0"/>
                </a:solidFill>
                <a:latin typeface="Calibri"/>
              </a:rPr>
              <a:t>Repository: github.com/noumanic/ai-job-market-analytics  ·  Source: aijobs.net (CC0)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4090</Words>
  <Application>Microsoft Office PowerPoint</Application>
  <PresentationFormat>Widescreen</PresentationFormat>
  <Paragraphs>561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Nouman Hafeez</cp:lastModifiedBy>
  <cp:revision>2</cp:revision>
  <dcterms:created xsi:type="dcterms:W3CDTF">2013-01-27T09:14:16Z</dcterms:created>
  <dcterms:modified xsi:type="dcterms:W3CDTF">2026-05-06T06:05:16Z</dcterms:modified>
  <cp:category/>
</cp:coreProperties>
</file>